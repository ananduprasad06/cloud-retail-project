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notesMaster" Target="notesMasters/notesMaster1.xml"/>
  <Relationship Id="rId21" Type="http://schemas.openxmlformats.org/officeDocument/2006/relationships/presProps" Target="presProps.xml"/>
  <Relationship Id="rId22" Type="http://schemas.openxmlformats.org/officeDocument/2006/relationships/viewProps" Target="viewProps.xml"/>
  <Relationship Id="rId23" Type="http://schemas.openxmlformats.org/officeDocument/2006/relationships/theme" Target="theme/theme1.xml"/>
  <Relationship Id="rId24" Type="http://schemas.openxmlformats.org/officeDocument/2006/relationships/tableStyles" Target="tableStyles.xml"/>
</Relationships>

</file>

<file path=ppt/notesMasters/_rels/notesMaster1.xml.rels><?xml version="1.0" encoding="utf-8"?>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image" Target="../media/image-1-1.png"/>
  <Relationship Id="rId2" Type="http://schemas.openxmlformats.org/officeDocument/2006/relationships/slideLayout" Target="../slideLayouts/slideLayout1.xml"/>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3-3.png"/>
  <Relationship Id="rId4" Type="http://schemas.openxmlformats.org/officeDocument/2006/relationships/image" Target="../media/image-3-4.png"/>
  <Relationship Id="rId5" Type="http://schemas.openxmlformats.org/officeDocument/2006/relationships/slideLayout" Target="../slideLayouts/slideLayout1.xml"/>
  <Relationship Id="rId6"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image" Target="../media/image-4-1.png"/>
  <Relationship Id="rId2" Type="http://schemas.openxmlformats.org/officeDocument/2006/relationships/image" Target="../media/image-4-2.png"/>
  <Relationship Id="rId3" Type="http://schemas.openxmlformats.org/officeDocument/2006/relationships/image" Target="../media/image-4-3.png"/>
  <Relationship Id="rId4" Type="http://schemas.openxmlformats.org/officeDocument/2006/relationships/image" Target="../media/image-4-4.png"/>
  <Relationship Id="rId5" Type="http://schemas.openxmlformats.org/officeDocument/2006/relationships/slideLayout" Target="../slideLayouts/slideLayout1.xml"/>
  <Relationship Id="rId6"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image" Target="../media/image-5-1.png"/>
  <Relationship Id="rId2" Type="http://schemas.openxmlformats.org/officeDocument/2006/relationships/image" Target="../media/image-5-2.png"/>
  <Relationship Id="rId3" Type="http://schemas.openxmlformats.org/officeDocument/2006/relationships/image" Target="../media/image-5-3.png"/>
  <Relationship Id="rId4" Type="http://schemas.openxmlformats.org/officeDocument/2006/relationships/image" Target="../media/image-5-4.png"/>
  <Relationship Id="rId5" Type="http://schemas.openxmlformats.org/officeDocument/2006/relationships/slideLayout" Target="../slideLayouts/slideLayout1.xml"/>
  <Relationship Id="rId6"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image" Target="../media/image-6-1.png"/>
  <Relationship Id="rId2" Type="http://schemas.openxmlformats.org/officeDocument/2006/relationships/image" Target="../media/image-6-2.png"/>
  <Relationship Id="rId3" Type="http://schemas.openxmlformats.org/officeDocument/2006/relationships/image" Target="../media/image-6-3.png"/>
  <Relationship Id="rId4" Type="http://schemas.openxmlformats.org/officeDocument/2006/relationships/image" Target="../media/image-6-4.png"/>
  <Relationship Id="rId5" Type="http://schemas.openxmlformats.org/officeDocument/2006/relationships/image" Target="../media/image-6-5.png"/>
  <Relationship Id="rId6" Type="http://schemas.openxmlformats.org/officeDocument/2006/relationships/image" Target="../media/image-6-6.png"/>
  <Relationship Id="rId7" Type="http://schemas.openxmlformats.org/officeDocument/2006/relationships/image" Target="../media/image-6-7.png"/>
  <Relationship Id="rId8" Type="http://schemas.openxmlformats.org/officeDocument/2006/relationships/image" Target="../media/image-6-8.png"/>
  <Relationship Id="rId9" Type="http://schemas.openxmlformats.org/officeDocument/2006/relationships/image" Target="../media/image-6-9.png"/>
  <Relationship Id="rId10" Type="http://schemas.openxmlformats.org/officeDocument/2006/relationships/image" Target="../media/image-6-10.png"/>
  <Relationship Id="rId11" Type="http://schemas.openxmlformats.org/officeDocument/2006/relationships/image" Target="../media/image-6-11.png"/>
  <Relationship Id="rId12" Type="http://schemas.openxmlformats.org/officeDocument/2006/relationships/image" Target="../media/image-6-12.png"/>
  <Relationship Id="rId13" Type="http://schemas.openxmlformats.org/officeDocument/2006/relationships/image" Target="../media/image-6-13.png"/>
  <Relationship Id="rId14" Type="http://schemas.openxmlformats.org/officeDocument/2006/relationships/image" Target="../media/image-6-14.png"/>
  <Relationship Id="rId15" Type="http://schemas.openxmlformats.org/officeDocument/2006/relationships/image" Target="../media/image-6-15.png"/>
  <Relationship Id="rId16" Type="http://schemas.openxmlformats.org/officeDocument/2006/relationships/slideLayout" Target="../slideLayouts/slideLayout1.xml"/>
  <Relationship Id="rId17"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image" Target="../media/image-7-1.png"/>
  <Relationship Id="rId2" Type="http://schemas.openxmlformats.org/officeDocument/2006/relationships/slideLayout" Target="../slideLayouts/slideLayout1.xml"/>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image" Target="../media/image-8-1.png"/>
  <Relationship Id="rId2" Type="http://schemas.openxmlformats.org/officeDocument/2006/relationships/slideLayout" Target="../slideLayouts/slideLayout1.xml"/>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image" Target="../media/image-9-1.png"/>
  <Relationship Id="rId2" Type="http://schemas.openxmlformats.org/officeDocument/2006/relationships/slideLayout" Target="../slideLayouts/slideLayout1.xml"/>
  <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image" Target="../media/image-11-1.png"/>
  <Relationship Id="rId2" Type="http://schemas.openxmlformats.org/officeDocument/2006/relationships/image" Target="../media/image-11-2.png"/>
  <Relationship Id="rId3" Type="http://schemas.openxmlformats.org/officeDocument/2006/relationships/image" Target="../media/image-11-3.png"/>
  <Relationship Id="rId4" Type="http://schemas.openxmlformats.org/officeDocument/2006/relationships/image" Target="../media/image-11-4.png"/>
  <Relationship Id="rId5" Type="http://schemas.openxmlformats.org/officeDocument/2006/relationships/image" Target="../media/image-11-5.png"/>
  <Relationship Id="rId6" Type="http://schemas.openxmlformats.org/officeDocument/2006/relationships/image" Target="../media/image-11-6.png"/>
  <Relationship Id="rId7" Type="http://schemas.openxmlformats.org/officeDocument/2006/relationships/image" Target="../media/image-11-7.png"/>
  <Relationship Id="rId8" Type="http://schemas.openxmlformats.org/officeDocument/2006/relationships/image" Target="../media/image-11-8.png"/>
  <Relationship Id="rId9" Type="http://schemas.openxmlformats.org/officeDocument/2006/relationships/slideLayout" Target="../slideLayouts/slideLayout1.xml"/>
  <Relationship Id="rId10" Type="http://schemas.openxmlformats.org/officeDocument/2006/relationships/notesSlide" Target="../notesSlides/notesSlide11.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
  <Relationship Id="rId1" Type="http://schemas.openxmlformats.org/officeDocument/2006/relationships/image" Target="../media/image-13-1.png"/>
  <Relationship Id="rId2" Type="http://schemas.openxmlformats.org/officeDocument/2006/relationships/image" Target="../media/image-13-2.png"/>
  <Relationship Id="rId3" Type="http://schemas.openxmlformats.org/officeDocument/2006/relationships/image" Target="../media/image-13-3.png"/>
  <Relationship Id="rId4" Type="http://schemas.openxmlformats.org/officeDocument/2006/relationships/image" Target="../media/image-13-4.png"/>
  <Relationship Id="rId5" Type="http://schemas.openxmlformats.org/officeDocument/2006/relationships/slideLayout" Target="../slideLayouts/slideLayout1.xml"/>
  <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
  <Relationship Id="rId1" Type="http://schemas.openxmlformats.org/officeDocument/2006/relationships/image" Target="../media/image-14-1.png"/>
  <Relationship Id="rId2" Type="http://schemas.openxmlformats.org/officeDocument/2006/relationships/image" Target="../media/image-14-2.png"/>
  <Relationship Id="rId3" Type="http://schemas.openxmlformats.org/officeDocument/2006/relationships/image" Target="../media/image-14-3.png"/>
  <Relationship Id="rId4" Type="http://schemas.openxmlformats.org/officeDocument/2006/relationships/image" Target="../media/image-14-4.png"/>
  <Relationship Id="rId5" Type="http://schemas.openxmlformats.org/officeDocument/2006/relationships/image" Target="../media/image-14-5.png"/>
  <Relationship Id="rId6" Type="http://schemas.openxmlformats.org/officeDocument/2006/relationships/slideLayout" Target="../slideLayouts/slideLayout1.xml"/>
  <Relationship Id="rId7" Type="http://schemas.openxmlformats.org/officeDocument/2006/relationships/notesSlide" Target="../notesSlides/notesSlide14.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
  <Relationship Id="rId1" Type="http://schemas.openxmlformats.org/officeDocument/2006/relationships/image" Target="../media/image-16-1.png"/>
  <Relationship Id="rId2" Type="http://schemas.openxmlformats.org/officeDocument/2006/relationships/image" Target="../media/image-16-2.png"/>
  <Relationship Id="rId3" Type="http://schemas.openxmlformats.org/officeDocument/2006/relationships/image" Target="../media/image-16-3.png"/>
  <Relationship Id="rId4" Type="http://schemas.openxmlformats.org/officeDocument/2006/relationships/image" Target="../media/image-16-4.png"/>
  <Relationship Id="rId5" Type="http://schemas.openxmlformats.org/officeDocument/2006/relationships/slideLayout" Target="../slideLayouts/slideLayout1.xml"/>
  <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
  <Relationship Id="rId1" Type="http://schemas.openxmlformats.org/officeDocument/2006/relationships/image" Target="../media/image-17-1.png"/>
  <Relationship Id="rId2" Type="http://schemas.openxmlformats.org/officeDocument/2006/relationships/image" Target="../media/image-17-2.png"/>
  <Relationship Id="rId3" Type="http://schemas.openxmlformats.org/officeDocument/2006/relationships/image" Target="../media/image-17-3.png"/>
  <Relationship Id="rId4" Type="http://schemas.openxmlformats.org/officeDocument/2006/relationships/image" Target="../media/image-17-4.png"/>
  <Relationship Id="rId5" Type="http://schemas.openxmlformats.org/officeDocument/2006/relationships/slideLayout" Target="../slideLayouts/slideLayout1.xml"/>
  <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
  <Relationship Id="rId1" Type="http://schemas.openxmlformats.org/officeDocument/2006/relationships/image" Target="../media/image-18-1.png"/>
  <Relationship Id="rId2" Type="http://schemas.openxmlformats.org/officeDocument/2006/relationships/slideLayout" Target="../slideLayouts/slideLayout1.xml"/>
  <Relationship Id="rId3"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alphaModFix amt="12000"/>
          </a:blip>
          <a:stretch>
            <a:fillRect/>
          </a:stretch>
        </p:blipFill>
        <p:spPr>
          <a:xfrm>
            <a:off x="8869680" y="-731520"/>
            <a:ext cx="4206240" cy="4206240"/>
          </a:xfrm>
          <a:prstGeom prst="rect">
            <a:avLst/>
          </a:prstGeom>
        </p:spPr>
      </p:pic>
      <p:sp>
        <p:nvSpPr>
          <p:cNvPr id="3" name="Shape 0"/>
          <p:cNvSpPr/>
          <p:nvPr/>
        </p:nvSpPr>
        <p:spPr>
          <a:xfrm>
            <a:off x="-1097280" y="4206240"/>
            <a:ext cx="4572000" cy="4572000"/>
          </a:xfrm>
          <a:prstGeom prst="ellipse">
            <a:avLst/>
          </a:prstGeom>
          <a:solidFill>
            <a:srgbClr val="141A45"/>
          </a:solidFill>
          <a:ln/>
        </p:spPr>
      </p:sp>
      <p:sp>
        <p:nvSpPr>
          <p:cNvPr id="4" name="Text 1"/>
          <p:cNvSpPr/>
          <p:nvPr/>
        </p:nvSpPr>
        <p:spPr>
          <a:xfrm>
            <a:off x="822960" y="1417320"/>
            <a:ext cx="9144000" cy="365760"/>
          </a:xfrm>
          <a:prstGeom prst="rect">
            <a:avLst/>
          </a:prstGeom>
          <a:noFill/>
          <a:ln/>
        </p:spPr>
        <p:txBody>
          <a:bodyPr wrap="square" lIns="0" tIns="0" rIns="0" bIns="0" rtlCol="0" anchor="ctr"/>
          <a:lstStyle/>
          <a:p>
            <a:pPr indent="0" marL="0">
              <a:buNone/>
            </a:pPr>
            <a:r>
              <a:rPr lang="en-US" sz="1300" b="1" spc="200" kern="0" dirty="0">
                <a:solidFill>
                  <a:srgbClr val="5FC7C2"/>
                </a:solidFill>
                <a:latin typeface="Calibri" pitchFamily="34" charset="0"/>
                <a:ea typeface="Calibri" pitchFamily="34" charset="-122"/>
                <a:cs typeface="Calibri" pitchFamily="34" charset="-120"/>
              </a:rPr>
              <a:t>MCA PROJECT REPORT  •  CLOUD COMPUTING SPECIALIZATION</a:t>
            </a:r>
            <a:endParaRPr lang="en-US" sz="1300" dirty="0"/>
          </a:p>
        </p:txBody>
      </p:sp>
      <p:sp>
        <p:nvSpPr>
          <p:cNvPr id="5" name="Text 2"/>
          <p:cNvSpPr/>
          <p:nvPr/>
        </p:nvSpPr>
        <p:spPr>
          <a:xfrm>
            <a:off x="822960" y="1874520"/>
            <a:ext cx="9875520" cy="173736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Implementation of Cloud Computing</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in Business Operations</a:t>
            </a:r>
            <a:endParaRPr lang="en-US" sz="4000" dirty="0"/>
          </a:p>
        </p:txBody>
      </p:sp>
      <p:sp>
        <p:nvSpPr>
          <p:cNvPr id="6" name="Text 3"/>
          <p:cNvSpPr/>
          <p:nvPr/>
        </p:nvSpPr>
        <p:spPr>
          <a:xfrm>
            <a:off x="822960" y="3611880"/>
            <a:ext cx="8686800" cy="457200"/>
          </a:xfrm>
          <a:prstGeom prst="rect">
            <a:avLst/>
          </a:prstGeom>
          <a:noFill/>
          <a:ln/>
        </p:spPr>
        <p:txBody>
          <a:bodyPr wrap="square" lIns="0" tIns="0" rIns="0" bIns="0" rtlCol="0" anchor="ctr"/>
          <a:lstStyle/>
          <a:p>
            <a:pPr indent="0" marL="0">
              <a:buNone/>
            </a:pPr>
            <a:r>
              <a:rPr lang="en-US" sz="1800" i="1" dirty="0">
                <a:solidFill>
                  <a:srgbClr val="EAF1FB"/>
                </a:solidFill>
                <a:latin typeface="Calibri" pitchFamily="34" charset="0"/>
                <a:ea typeface="Calibri" pitchFamily="34" charset="-122"/>
                <a:cs typeface="Calibri" pitchFamily="34" charset="-120"/>
              </a:rPr>
              <a:t>A Study Focused on the Retail Sector</a:t>
            </a:r>
            <a:endParaRPr lang="en-US" sz="1800" dirty="0"/>
          </a:p>
        </p:txBody>
      </p:sp>
      <p:sp>
        <p:nvSpPr>
          <p:cNvPr id="7" name="Shape 4"/>
          <p:cNvSpPr/>
          <p:nvPr/>
        </p:nvSpPr>
        <p:spPr>
          <a:xfrm>
            <a:off x="822960" y="4251960"/>
            <a:ext cx="2011680" cy="0"/>
          </a:xfrm>
          <a:prstGeom prst="line">
            <a:avLst/>
          </a:prstGeom>
          <a:noFill/>
          <a:ln w="31750">
            <a:solidFill>
              <a:srgbClr val="0E8C8C"/>
            </a:solidFill>
            <a:prstDash val="solid"/>
          </a:ln>
        </p:spPr>
      </p:sp>
      <p:sp>
        <p:nvSpPr>
          <p:cNvPr id="8" name="Text 5"/>
          <p:cNvSpPr/>
          <p:nvPr/>
        </p:nvSpPr>
        <p:spPr>
          <a:xfrm>
            <a:off x="822960" y="4526280"/>
            <a:ext cx="8229600" cy="1370000"/>
          </a:xfrm>
          <a:prstGeom prst="rect">
            <a:avLst/>
          </a:prstGeom>
          <a:noFill/>
          <a:ln/>
        </p:spPr>
        <p:txBody>
          <a:bodyPr wrap="square" lIns="0" tIns="0" rIns="0" bIns="0" rtlCol="0" anchor="ctr"/>
          <a:lstStyle/>
          <a:p>
            <a:pPr indent="0" marL="0">
              <a:lnSpc>
                <a:spcPct val="130000"/>
              </a:lnSpc>
              <a:buNone/>
            </a:pPr>
            <a:r>
              <a:rPr lang="en-US" sz="1600" b="1" dirty="0">
                <a:solidFill>
                  <a:srgbClr val="FFFFFF"/>
                </a:solidFill>
                <a:latin typeface="Calibri" pitchFamily="34" charset="0"/>
                <a:ea typeface="Calibri" pitchFamily="34" charset="-122"/>
                <a:cs typeface="Calibri" pitchFamily="34" charset="-120"/>
              </a:rPr>
              <a:t>Anandumon Prasad Thuruthel</a:t>
            </a:r>
            <a:endParaRPr lang="en-US" sz="1600" dirty="0"/>
          </a:p>
          <a:p>
            <a:pPr indent="0" marL="0">
              <a:lnSpc>
                <a:spcPct val="130000"/>
              </a:lnSpc>
              <a:buNone/>
            </a:pPr>
            <a:r>
              <a:rPr lang="en-US" sz="1300" dirty="0">
                <a:solidFill>
                  <a:srgbClr val="EAF1FB"/>
                </a:solidFill>
                <a:latin typeface="Calibri" pitchFamily="34" charset="0"/>
                <a:ea typeface="Calibri" pitchFamily="34" charset="-122"/>
                <a:cs typeface="Calibri" pitchFamily="34" charset="-120"/>
              </a:rPr>
              <a:t>Enrollment No: O24MCA110149</a:t>
            </a:r>
            <a:endParaRPr lang="en-US" sz="1600" dirty="0"/>
          </a:p>
          <a:p>
            <a:pPr indent="0" marL="0">
              <a:lnSpc>
                <a:spcPct val="130000"/>
              </a:lnSpc>
              <a:buNone/>
            </a:pPr>
            <a:r>
              <a:rPr lang="en-US" sz="1300" dirty="0">
                <a:solidFill>
                  <a:srgbClr val="EAF1FB"/>
                </a:solidFill>
                <a:latin typeface="Calibri" pitchFamily="34" charset="0"/>
                <a:ea typeface="Calibri" pitchFamily="34" charset="-122"/>
                <a:cs typeface="Calibri" pitchFamily="34" charset="-120"/>
              </a:rPr>
              <a:t>Mentor: Ms. Vasanthi Chandran  |  Qollabb / Plag Pro, Noida</a:t>
            </a:r>
            <a:endParaRPr lang="en-US" sz="1600" dirty="0"/>
          </a:p>
          <a:p>
            <a:pPr indent="0" marL="0">
              <a:lnSpc>
                <a:spcPct val="130000"/>
              </a:lnSpc>
              <a:buNone/>
            </a:pPr>
            <a:r>
              <a:rPr lang="en-US" sz="1200" dirty="0">
                <a:solidFill>
                  <a:srgbClr val="5FC7C2"/>
                </a:solidFill>
                <a:latin typeface="Calibri" pitchFamily="34" charset="0"/>
                <a:ea typeface="Calibri" pitchFamily="34" charset="-122"/>
                <a:cs typeface="Calibri" pitchFamily="34" charset="-120"/>
              </a:rPr>
              <a:t>Centre for Distance &amp; Online Education, Chandigarh University</a:t>
            </a:r>
            <a:endParaRPr lang="en-US" sz="1200" dirty="0"/>
          </a:p>
        </p:txBody>
      </p:sp>
      <p:sp>
        <p:nvSpPr>
          <p:cNvPr id="9" name="Text 6"/>
          <p:cNvSpPr/>
          <p:nvPr/>
        </p:nvSpPr>
        <p:spPr>
          <a:xfrm>
            <a:off x="822960" y="6080760"/>
            <a:ext cx="2743200" cy="365760"/>
          </a:xfrm>
          <a:prstGeom prst="rect">
            <a:avLst/>
          </a:prstGeom>
          <a:noFill/>
          <a:ln/>
        </p:spPr>
        <p:txBody>
          <a:bodyPr wrap="square" lIns="0" tIns="0" rIns="0" bIns="0" rtlCol="0" anchor="ctr"/>
          <a:lstStyle/>
          <a:p>
            <a:pPr indent="0" marL="0">
              <a:buNone/>
            </a:pPr>
            <a:r>
              <a:rPr lang="en-US" sz="1300" dirty="0">
                <a:solidFill>
                  <a:srgbClr val="5FC7C2"/>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What's Inside This Deck</a:t>
            </a:r>
            <a:endParaRPr lang="en-US" sz="3000" dirty="0"/>
          </a:p>
        </p:txBody>
      </p:sp>
      <p:sp>
        <p:nvSpPr>
          <p:cNvPr id="4" name="Shape 2"/>
          <p:cNvSpPr/>
          <p:nvPr/>
        </p:nvSpPr>
        <p:spPr>
          <a:xfrm>
            <a:off x="548640" y="1554480"/>
            <a:ext cx="5440680" cy="1298448"/>
          </a:xfrm>
          <a:prstGeom prst="roundRect">
            <a:avLst>
              <a:gd name="adj" fmla="val 5634"/>
            </a:avLst>
          </a:prstGeom>
          <a:solidFill>
            <a:srgbClr val="F4F7FC"/>
          </a:solidFill>
          <a:ln/>
          <a:effectLst>
            <a:outerShdw sx="100000" sy="100000" kx="0" ky="0" algn="bl" rotWithShape="0" blurRad="967740000" dist="322580000" dir="324000000000">
              <a:srgbClr val="1E2761">
                <a:alpha val="800000000"/>
              </a:srgbClr>
            </a:outerShdw>
          </a:effectLst>
        </p:spPr>
      </p:sp>
      <p:sp>
        <p:nvSpPr>
          <p:cNvPr id="5" name="Text 3"/>
          <p:cNvSpPr/>
          <p:nvPr/>
        </p:nvSpPr>
        <p:spPr>
          <a:xfrm>
            <a:off x="777240" y="1755648"/>
            <a:ext cx="914400" cy="914400"/>
          </a:xfrm>
          <a:prstGeom prst="rect">
            <a:avLst/>
          </a:prstGeom>
          <a:noFill/>
          <a:ln/>
        </p:spPr>
        <p:txBody>
          <a:bodyPr wrap="square" lIns="0" tIns="0" rIns="0" bIns="0" rtlCol="0" anchor="ctr"/>
          <a:lstStyle/>
          <a:p>
            <a:pPr indent="0" marL="0">
              <a:buNone/>
            </a:pPr>
            <a:r>
              <a:rPr lang="en-US" sz="3000" b="1" dirty="0">
                <a:solidFill>
                  <a:srgbClr val="5FC7C2"/>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691640" y="1755648"/>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Problem &amp; Objectives</a:t>
            </a:r>
            <a:endParaRPr lang="en-US" sz="1500" dirty="0"/>
          </a:p>
        </p:txBody>
      </p:sp>
      <p:sp>
        <p:nvSpPr>
          <p:cNvPr id="7" name="Text 5"/>
          <p:cNvSpPr/>
          <p:nvPr/>
        </p:nvSpPr>
        <p:spPr>
          <a:xfrm>
            <a:off x="1691640" y="2121408"/>
            <a:ext cx="4069080" cy="640080"/>
          </a:xfrm>
          <a:prstGeom prst="rect">
            <a:avLst/>
          </a:prstGeom>
          <a:noFill/>
          <a:ln/>
        </p:spPr>
        <p:txBody>
          <a:bodyPr wrap="square" lIns="0" tIns="0" rIns="0" bIns="0" rtlCol="0" anchor="ctr"/>
          <a:lstStyle/>
          <a:p>
            <a:pPr indent="0" marL="0">
              <a:lnSpc>
                <a:spcPct val="115000"/>
              </a:lnSpc>
              <a:buNone/>
            </a:pPr>
            <a:r>
              <a:rPr lang="en-US" sz="1100" dirty="0">
                <a:solidFill>
                  <a:srgbClr val="44546A"/>
                </a:solidFill>
                <a:latin typeface="Calibri" pitchFamily="34" charset="0"/>
                <a:ea typeface="Calibri" pitchFamily="34" charset="-122"/>
                <a:cs typeface="Calibri" pitchFamily="34" charset="-120"/>
              </a:rPr>
              <a:t>Why retail needs a structured way to think about cloud adoption</a:t>
            </a:r>
            <a:endParaRPr lang="en-US" sz="1100" dirty="0"/>
          </a:p>
        </p:txBody>
      </p:sp>
      <p:sp>
        <p:nvSpPr>
          <p:cNvPr id="8" name="Shape 6"/>
          <p:cNvSpPr/>
          <p:nvPr/>
        </p:nvSpPr>
        <p:spPr>
          <a:xfrm>
            <a:off x="6309360" y="1554480"/>
            <a:ext cx="5440680" cy="1298448"/>
          </a:xfrm>
          <a:prstGeom prst="roundRect">
            <a:avLst>
              <a:gd name="adj" fmla="val 5634"/>
            </a:avLst>
          </a:prstGeom>
          <a:solidFill>
            <a:srgbClr val="F4F7FC"/>
          </a:solidFill>
          <a:ln/>
          <a:effectLst>
            <a:outerShdw sx="100000" sy="100000" kx="0" ky="0" algn="bl" rotWithShape="0" blurRad="967740000" dist="322580000" dir="324000000000">
              <a:srgbClr val="1E2761">
                <a:alpha val="800000000"/>
              </a:srgbClr>
            </a:outerShdw>
          </a:effectLst>
        </p:spPr>
      </p:sp>
      <p:sp>
        <p:nvSpPr>
          <p:cNvPr id="9" name="Text 7"/>
          <p:cNvSpPr/>
          <p:nvPr/>
        </p:nvSpPr>
        <p:spPr>
          <a:xfrm>
            <a:off x="6537960" y="1755648"/>
            <a:ext cx="914400" cy="914400"/>
          </a:xfrm>
          <a:prstGeom prst="rect">
            <a:avLst/>
          </a:prstGeom>
          <a:noFill/>
          <a:ln/>
        </p:spPr>
        <p:txBody>
          <a:bodyPr wrap="square" lIns="0" tIns="0" rIns="0" bIns="0" rtlCol="0" anchor="ctr"/>
          <a:lstStyle/>
          <a:p>
            <a:pPr indent="0" marL="0">
              <a:buNone/>
            </a:pPr>
            <a:r>
              <a:rPr lang="en-US" sz="3000" b="1" dirty="0">
                <a:solidFill>
                  <a:srgbClr val="5FC7C2"/>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7452360" y="1755648"/>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Research Approach</a:t>
            </a:r>
            <a:endParaRPr lang="en-US" sz="1500" dirty="0"/>
          </a:p>
        </p:txBody>
      </p:sp>
      <p:sp>
        <p:nvSpPr>
          <p:cNvPr id="11" name="Text 9"/>
          <p:cNvSpPr/>
          <p:nvPr/>
        </p:nvSpPr>
        <p:spPr>
          <a:xfrm>
            <a:off x="7452360" y="2121408"/>
            <a:ext cx="4069080" cy="640080"/>
          </a:xfrm>
          <a:prstGeom prst="rect">
            <a:avLst/>
          </a:prstGeom>
          <a:noFill/>
          <a:ln/>
        </p:spPr>
        <p:txBody>
          <a:bodyPr wrap="square" lIns="0" tIns="0" rIns="0" bIns="0" rtlCol="0" anchor="ctr"/>
          <a:lstStyle/>
          <a:p>
            <a:pPr indent="0" marL="0">
              <a:lnSpc>
                <a:spcPct val="115000"/>
              </a:lnSpc>
              <a:buNone/>
            </a:pPr>
            <a:r>
              <a:rPr lang="en-US" sz="1100" dirty="0">
                <a:solidFill>
                  <a:srgbClr val="44546A"/>
                </a:solidFill>
                <a:latin typeface="Calibri" pitchFamily="34" charset="0"/>
                <a:ea typeface="Calibri" pitchFamily="34" charset="-122"/>
                <a:cs typeface="Calibri" pitchFamily="34" charset="-120"/>
              </a:rPr>
              <a:t>Reading around the topic, talking to IT professionals, and looking at real cases</a:t>
            </a:r>
            <a:endParaRPr lang="en-US" sz="1100" dirty="0"/>
          </a:p>
        </p:txBody>
      </p:sp>
      <p:sp>
        <p:nvSpPr>
          <p:cNvPr id="12" name="Shape 10"/>
          <p:cNvSpPr/>
          <p:nvPr/>
        </p:nvSpPr>
        <p:spPr>
          <a:xfrm>
            <a:off x="548640" y="3035808"/>
            <a:ext cx="5440680" cy="1298448"/>
          </a:xfrm>
          <a:prstGeom prst="roundRect">
            <a:avLst>
              <a:gd name="adj" fmla="val 5634"/>
            </a:avLst>
          </a:prstGeom>
          <a:solidFill>
            <a:srgbClr val="F4F7FC"/>
          </a:solidFill>
          <a:ln/>
          <a:effectLst>
            <a:outerShdw sx="100000" sy="100000" kx="0" ky="0" algn="bl" rotWithShape="0" blurRad="967740000" dist="322580000" dir="324000000000">
              <a:srgbClr val="1E2761">
                <a:alpha val="800000000"/>
              </a:srgbClr>
            </a:outerShdw>
          </a:effectLst>
        </p:spPr>
      </p:sp>
      <p:sp>
        <p:nvSpPr>
          <p:cNvPr id="13" name="Text 11"/>
          <p:cNvSpPr/>
          <p:nvPr/>
        </p:nvSpPr>
        <p:spPr>
          <a:xfrm>
            <a:off x="777240" y="3236976"/>
            <a:ext cx="914400" cy="914400"/>
          </a:xfrm>
          <a:prstGeom prst="rect">
            <a:avLst/>
          </a:prstGeom>
          <a:noFill/>
          <a:ln/>
        </p:spPr>
        <p:txBody>
          <a:bodyPr wrap="square" lIns="0" tIns="0" rIns="0" bIns="0" rtlCol="0" anchor="ctr"/>
          <a:lstStyle/>
          <a:p>
            <a:pPr indent="0" marL="0">
              <a:buNone/>
            </a:pPr>
            <a:r>
              <a:rPr lang="en-US" sz="3000" b="1" dirty="0">
                <a:solidFill>
                  <a:srgbClr val="5FC7C2"/>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1691640" y="3236976"/>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System Analysis &amp; Design</a:t>
            </a:r>
            <a:endParaRPr lang="en-US" sz="1500" dirty="0"/>
          </a:p>
        </p:txBody>
      </p:sp>
      <p:sp>
        <p:nvSpPr>
          <p:cNvPr id="15" name="Text 13"/>
          <p:cNvSpPr/>
          <p:nvPr/>
        </p:nvSpPr>
        <p:spPr>
          <a:xfrm>
            <a:off x="1691640" y="3602736"/>
            <a:ext cx="4069080" cy="640080"/>
          </a:xfrm>
          <a:prstGeom prst="rect">
            <a:avLst/>
          </a:prstGeom>
          <a:noFill/>
          <a:ln/>
        </p:spPr>
        <p:txBody>
          <a:bodyPr wrap="square" lIns="0" tIns="0" rIns="0" bIns="0" rtlCol="0" anchor="ctr"/>
          <a:lstStyle/>
          <a:p>
            <a:pPr indent="0" marL="0">
              <a:lnSpc>
                <a:spcPct val="115000"/>
              </a:lnSpc>
              <a:buNone/>
            </a:pPr>
            <a:r>
              <a:rPr lang="en-US" sz="1100" dirty="0">
                <a:solidFill>
                  <a:srgbClr val="44546A"/>
                </a:solidFill>
                <a:latin typeface="Calibri" pitchFamily="34" charset="0"/>
                <a:ea typeface="Calibri" pitchFamily="34" charset="-122"/>
                <a:cs typeface="Calibri" pitchFamily="34" charset="-120"/>
              </a:rPr>
              <a:t>Architecture, UML diagrams, and the database schema behind it</a:t>
            </a:r>
            <a:endParaRPr lang="en-US" sz="1100" dirty="0"/>
          </a:p>
        </p:txBody>
      </p:sp>
      <p:sp>
        <p:nvSpPr>
          <p:cNvPr id="16" name="Shape 14"/>
          <p:cNvSpPr/>
          <p:nvPr/>
        </p:nvSpPr>
        <p:spPr>
          <a:xfrm>
            <a:off x="6309360" y="3035808"/>
            <a:ext cx="5440680" cy="1298448"/>
          </a:xfrm>
          <a:prstGeom prst="roundRect">
            <a:avLst>
              <a:gd name="adj" fmla="val 5634"/>
            </a:avLst>
          </a:prstGeom>
          <a:solidFill>
            <a:srgbClr val="F4F7FC"/>
          </a:solidFill>
          <a:ln/>
          <a:effectLst>
            <a:outerShdw sx="100000" sy="100000" kx="0" ky="0" algn="bl" rotWithShape="0" blurRad="967740000" dist="322580000" dir="324000000000">
              <a:srgbClr val="1E2761">
                <a:alpha val="800000000"/>
              </a:srgbClr>
            </a:outerShdw>
          </a:effectLst>
        </p:spPr>
      </p:sp>
      <p:sp>
        <p:nvSpPr>
          <p:cNvPr id="17" name="Text 15"/>
          <p:cNvSpPr/>
          <p:nvPr/>
        </p:nvSpPr>
        <p:spPr>
          <a:xfrm>
            <a:off x="6537960" y="3236976"/>
            <a:ext cx="914400" cy="914400"/>
          </a:xfrm>
          <a:prstGeom prst="rect">
            <a:avLst/>
          </a:prstGeom>
          <a:noFill/>
          <a:ln/>
        </p:spPr>
        <p:txBody>
          <a:bodyPr wrap="square" lIns="0" tIns="0" rIns="0" bIns="0" rtlCol="0" anchor="ctr"/>
          <a:lstStyle/>
          <a:p>
            <a:pPr indent="0" marL="0">
              <a:buNone/>
            </a:pPr>
            <a:r>
              <a:rPr lang="en-US" sz="3000" b="1" dirty="0">
                <a:solidFill>
                  <a:srgbClr val="5FC7C2"/>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7452360" y="3236976"/>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Key Findings</a:t>
            </a:r>
            <a:endParaRPr lang="en-US" sz="1500" dirty="0"/>
          </a:p>
        </p:txBody>
      </p:sp>
      <p:sp>
        <p:nvSpPr>
          <p:cNvPr id="19" name="Text 17"/>
          <p:cNvSpPr/>
          <p:nvPr/>
        </p:nvSpPr>
        <p:spPr>
          <a:xfrm>
            <a:off x="7452360" y="3602736"/>
            <a:ext cx="4069080" cy="640080"/>
          </a:xfrm>
          <a:prstGeom prst="rect">
            <a:avLst/>
          </a:prstGeom>
          <a:noFill/>
          <a:ln/>
        </p:spPr>
        <p:txBody>
          <a:bodyPr wrap="square" lIns="0" tIns="0" rIns="0" bIns="0" rtlCol="0" anchor="ctr"/>
          <a:lstStyle/>
          <a:p>
            <a:pPr indent="0" marL="0">
              <a:lnSpc>
                <a:spcPct val="115000"/>
              </a:lnSpc>
              <a:buNone/>
            </a:pPr>
            <a:r>
              <a:rPr lang="en-US" sz="1100" dirty="0">
                <a:solidFill>
                  <a:srgbClr val="44546A"/>
                </a:solidFill>
                <a:latin typeface="Calibri" pitchFamily="34" charset="0"/>
                <a:ea typeface="Calibri" pitchFamily="34" charset="-122"/>
                <a:cs typeface="Calibri" pitchFamily="34" charset="-120"/>
              </a:rPr>
              <a:t>What the interviews and case patterns showed, plus a provider comparison</a:t>
            </a:r>
            <a:endParaRPr lang="en-US" sz="1100" dirty="0"/>
          </a:p>
        </p:txBody>
      </p:sp>
      <p:sp>
        <p:nvSpPr>
          <p:cNvPr id="20" name="Shape 18"/>
          <p:cNvSpPr/>
          <p:nvPr/>
        </p:nvSpPr>
        <p:spPr>
          <a:xfrm>
            <a:off x="548640" y="4517136"/>
            <a:ext cx="5440680" cy="1298448"/>
          </a:xfrm>
          <a:prstGeom prst="roundRect">
            <a:avLst>
              <a:gd name="adj" fmla="val 5634"/>
            </a:avLst>
          </a:prstGeom>
          <a:solidFill>
            <a:srgbClr val="F4F7FC"/>
          </a:solidFill>
          <a:ln/>
          <a:effectLst>
            <a:outerShdw sx="100000" sy="100000" kx="0" ky="0" algn="bl" rotWithShape="0" blurRad="967740000" dist="322580000" dir="324000000000">
              <a:srgbClr val="1E2761">
                <a:alpha val="800000000"/>
              </a:srgbClr>
            </a:outerShdw>
          </a:effectLst>
        </p:spPr>
      </p:sp>
      <p:sp>
        <p:nvSpPr>
          <p:cNvPr id="21" name="Text 19"/>
          <p:cNvSpPr/>
          <p:nvPr/>
        </p:nvSpPr>
        <p:spPr>
          <a:xfrm>
            <a:off x="777240" y="4718304"/>
            <a:ext cx="914400" cy="914400"/>
          </a:xfrm>
          <a:prstGeom prst="rect">
            <a:avLst/>
          </a:prstGeom>
          <a:noFill/>
          <a:ln/>
        </p:spPr>
        <p:txBody>
          <a:bodyPr wrap="square" lIns="0" tIns="0" rIns="0" bIns="0" rtlCol="0" anchor="ctr"/>
          <a:lstStyle/>
          <a:p>
            <a:pPr indent="0" marL="0">
              <a:buNone/>
            </a:pPr>
            <a:r>
              <a:rPr lang="en-US" sz="3000" b="1" dirty="0">
                <a:solidFill>
                  <a:srgbClr val="5FC7C2"/>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1691640" y="4718304"/>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Results &amp; Best Practices</a:t>
            </a:r>
            <a:endParaRPr lang="en-US" sz="1500" dirty="0"/>
          </a:p>
        </p:txBody>
      </p:sp>
      <p:sp>
        <p:nvSpPr>
          <p:cNvPr id="23" name="Text 21"/>
          <p:cNvSpPr/>
          <p:nvPr/>
        </p:nvSpPr>
        <p:spPr>
          <a:xfrm>
            <a:off x="1691640" y="5084064"/>
            <a:ext cx="4069080" cy="640080"/>
          </a:xfrm>
          <a:prstGeom prst="rect">
            <a:avLst/>
          </a:prstGeom>
          <a:noFill/>
          <a:ln/>
        </p:spPr>
        <p:txBody>
          <a:bodyPr wrap="square" lIns="0" tIns="0" rIns="0" bIns="0" rtlCol="0" anchor="ctr"/>
          <a:lstStyle/>
          <a:p>
            <a:pPr indent="0" marL="0">
              <a:lnSpc>
                <a:spcPct val="115000"/>
              </a:lnSpc>
              <a:buNone/>
            </a:pPr>
            <a:r>
              <a:rPr lang="en-US" sz="1100" dirty="0">
                <a:solidFill>
                  <a:srgbClr val="44546A"/>
                </a:solidFill>
                <a:latin typeface="Calibri" pitchFamily="34" charset="0"/>
                <a:ea typeface="Calibri" pitchFamily="34" charset="-122"/>
                <a:cs typeface="Calibri" pitchFamily="34" charset="-120"/>
              </a:rPr>
              <a:t>What actually improved, and a framework you can follow</a:t>
            </a:r>
            <a:endParaRPr lang="en-US" sz="1100" dirty="0"/>
          </a:p>
        </p:txBody>
      </p:sp>
      <p:sp>
        <p:nvSpPr>
          <p:cNvPr id="24" name="Shape 22"/>
          <p:cNvSpPr/>
          <p:nvPr/>
        </p:nvSpPr>
        <p:spPr>
          <a:xfrm>
            <a:off x="6309360" y="4517136"/>
            <a:ext cx="5440680" cy="1298448"/>
          </a:xfrm>
          <a:prstGeom prst="roundRect">
            <a:avLst>
              <a:gd name="adj" fmla="val 5634"/>
            </a:avLst>
          </a:prstGeom>
          <a:solidFill>
            <a:srgbClr val="F4F7FC"/>
          </a:solidFill>
          <a:ln/>
          <a:effectLst>
            <a:outerShdw sx="100000" sy="100000" kx="0" ky="0" algn="bl" rotWithShape="0" blurRad="967740000" dist="322580000" dir="324000000000">
              <a:srgbClr val="1E2761">
                <a:alpha val="800000000"/>
              </a:srgbClr>
            </a:outerShdw>
          </a:effectLst>
        </p:spPr>
      </p:sp>
      <p:sp>
        <p:nvSpPr>
          <p:cNvPr id="25" name="Text 23"/>
          <p:cNvSpPr/>
          <p:nvPr/>
        </p:nvSpPr>
        <p:spPr>
          <a:xfrm>
            <a:off x="6537960" y="4718304"/>
            <a:ext cx="914400" cy="914400"/>
          </a:xfrm>
          <a:prstGeom prst="rect">
            <a:avLst/>
          </a:prstGeom>
          <a:noFill/>
          <a:ln/>
        </p:spPr>
        <p:txBody>
          <a:bodyPr wrap="square" lIns="0" tIns="0" rIns="0" bIns="0" rtlCol="0" anchor="ctr"/>
          <a:lstStyle/>
          <a:p>
            <a:pPr indent="0" marL="0">
              <a:buNone/>
            </a:pPr>
            <a:r>
              <a:rPr lang="en-US" sz="3000" b="1" dirty="0">
                <a:solidFill>
                  <a:srgbClr val="5FC7C2"/>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7452360" y="4718304"/>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Conclusion &amp; Future Scope</a:t>
            </a:r>
            <a:endParaRPr lang="en-US" sz="1500" dirty="0"/>
          </a:p>
        </p:txBody>
      </p:sp>
      <p:sp>
        <p:nvSpPr>
          <p:cNvPr id="27" name="Text 25"/>
          <p:cNvSpPr/>
          <p:nvPr/>
        </p:nvSpPr>
        <p:spPr>
          <a:xfrm>
            <a:off x="7452360" y="5084064"/>
            <a:ext cx="4069080" cy="640080"/>
          </a:xfrm>
          <a:prstGeom prst="rect">
            <a:avLst/>
          </a:prstGeom>
          <a:noFill/>
          <a:ln/>
        </p:spPr>
        <p:txBody>
          <a:bodyPr wrap="square" lIns="0" tIns="0" rIns="0" bIns="0" rtlCol="0" anchor="ctr"/>
          <a:lstStyle/>
          <a:p>
            <a:pPr indent="0" marL="0">
              <a:lnSpc>
                <a:spcPct val="115000"/>
              </a:lnSpc>
              <a:buNone/>
            </a:pPr>
            <a:r>
              <a:rPr lang="en-US" sz="1100" dirty="0">
                <a:solidFill>
                  <a:srgbClr val="44546A"/>
                </a:solidFill>
                <a:latin typeface="Calibri" pitchFamily="34" charset="0"/>
                <a:ea typeface="Calibri" pitchFamily="34" charset="-122"/>
                <a:cs typeface="Calibri" pitchFamily="34" charset="-120"/>
              </a:rPr>
              <a:t>Where this could go next for retail</a:t>
            </a:r>
            <a:endParaRPr lang="en-US" sz="1100" dirty="0"/>
          </a:p>
        </p:txBody>
      </p:sp>
      <p:sp>
        <p:nvSpPr>
          <p:cNvPr id="28" name="Text 26"/>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9" name="Text 27"/>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Cloud Promises vs. What Retail Experiences</a:t>
            </a:r>
            <a:endParaRPr lang="en-US" sz="3000" dirty="0"/>
          </a:p>
        </p:txBody>
      </p:sp>
      <p:sp>
        <p:nvSpPr>
          <p:cNvPr id="4" name="Text 2"/>
          <p:cNvSpPr/>
          <p:nvPr/>
        </p:nvSpPr>
        <p:spPr>
          <a:xfrm>
            <a:off x="548640" y="1417320"/>
            <a:ext cx="6400800" cy="1005840"/>
          </a:xfrm>
          <a:prstGeom prst="rect">
            <a:avLst/>
          </a:prstGeom>
          <a:noFill/>
          <a:ln/>
        </p:spPr>
        <p:txBody>
          <a:bodyPr wrap="square" lIns="0" tIns="0" rIns="0" bIns="0" rtlCol="0" anchor="ctr"/>
          <a:lstStyle/>
          <a:p>
            <a:pPr indent="0" marL="0">
              <a:lnSpc>
                <a:spcPct val="130000"/>
              </a:lnSpc>
              <a:buNone/>
            </a:pPr>
            <a:r>
              <a:rPr lang="en-US" sz="1500" dirty="0">
                <a:solidFill>
                  <a:srgbClr val="44546A"/>
                </a:solidFill>
                <a:latin typeface="Calibri" pitchFamily="34" charset="0"/>
                <a:ea typeface="Calibri" pitchFamily="34" charset="-122"/>
                <a:cs typeface="Calibri" pitchFamily="34" charset="-120"/>
              </a:rPr>
              <a:t>Most retail businesses already know cloud computing is supposed to bring scalability, lower costs, and resilience — the hard part is actually making that happen in practice.</a:t>
            </a:r>
            <a:endParaRPr lang="en-US" sz="1500" dirty="0"/>
          </a:p>
        </p:txBody>
      </p:sp>
      <p:pic>
        <p:nvPicPr>
          <p:cNvPr id="5" name="Image 0" descr="preencoded.png"/>
          <p:cNvPicPr>
            <a:picLocks noChangeAspect="1"/>
          </p:cNvPicPr>
          <p:nvPr/>
        </p:nvPicPr>
        <p:blipFill>
          <a:blip r:embed="rId1"/>
          <a:stretch>
            <a:fillRect/>
          </a:stretch>
        </p:blipFill>
        <p:spPr>
          <a:xfrm>
            <a:off x="548640" y="2642616"/>
            <a:ext cx="292608" cy="292608"/>
          </a:xfrm>
          <a:prstGeom prst="rect">
            <a:avLst/>
          </a:prstGeom>
        </p:spPr>
      </p:pic>
      <p:sp>
        <p:nvSpPr>
          <p:cNvPr id="6" name="Text 3"/>
          <p:cNvSpPr/>
          <p:nvPr/>
        </p:nvSpPr>
        <p:spPr>
          <a:xfrm>
            <a:off x="1005840" y="2560320"/>
            <a:ext cx="5852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Where to start</a:t>
            </a:r>
            <a:endParaRPr lang="en-US" sz="1400" dirty="0"/>
          </a:p>
        </p:txBody>
      </p:sp>
      <p:sp>
        <p:nvSpPr>
          <p:cNvPr id="7" name="Text 4"/>
          <p:cNvSpPr/>
          <p:nvPr/>
        </p:nvSpPr>
        <p:spPr>
          <a:xfrm>
            <a:off x="1005840" y="2862072"/>
            <a:ext cx="5852160" cy="365760"/>
          </a:xfrm>
          <a:prstGeom prst="rect">
            <a:avLst/>
          </a:prstGeom>
          <a:noFill/>
          <a:ln/>
        </p:spPr>
        <p:txBody>
          <a:bodyPr wrap="square" lIns="0" tIns="0" rIns="0" bIns="0" rtlCol="0" anchor="ctr"/>
          <a:lstStyle/>
          <a:p>
            <a:pPr indent="0" marL="0">
              <a:buNone/>
            </a:pPr>
            <a:r>
              <a:rPr lang="en-US" sz="1150" dirty="0">
                <a:solidFill>
                  <a:srgbClr val="44546A"/>
                </a:solidFill>
                <a:latin typeface="Calibri" pitchFamily="34" charset="0"/>
                <a:ea typeface="Calibri" pitchFamily="34" charset="-122"/>
                <a:cs typeface="Calibri" pitchFamily="34" charset="-120"/>
              </a:rPr>
              <a:t>It's not always obvious which systems to migrate first, or in what order</a:t>
            </a:r>
            <a:endParaRPr lang="en-US" sz="1150" dirty="0"/>
          </a:p>
        </p:txBody>
      </p:sp>
      <p:pic>
        <p:nvPicPr>
          <p:cNvPr id="8" name="Image 1" descr="preencoded.png"/>
          <p:cNvPicPr>
            <a:picLocks noChangeAspect="1"/>
          </p:cNvPicPr>
          <p:nvPr/>
        </p:nvPicPr>
        <p:blipFill>
          <a:blip r:embed="rId2"/>
          <a:stretch>
            <a:fillRect/>
          </a:stretch>
        </p:blipFill>
        <p:spPr>
          <a:xfrm>
            <a:off x="548640" y="3511296"/>
            <a:ext cx="292608" cy="292608"/>
          </a:xfrm>
          <a:prstGeom prst="rect">
            <a:avLst/>
          </a:prstGeom>
        </p:spPr>
      </p:pic>
      <p:sp>
        <p:nvSpPr>
          <p:cNvPr id="9" name="Text 5"/>
          <p:cNvSpPr/>
          <p:nvPr/>
        </p:nvSpPr>
        <p:spPr>
          <a:xfrm>
            <a:off x="1005840" y="3429000"/>
            <a:ext cx="5852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Security worries</a:t>
            </a:r>
            <a:endParaRPr lang="en-US" sz="1400" dirty="0"/>
          </a:p>
        </p:txBody>
      </p:sp>
      <p:sp>
        <p:nvSpPr>
          <p:cNvPr id="10" name="Text 6"/>
          <p:cNvSpPr/>
          <p:nvPr/>
        </p:nvSpPr>
        <p:spPr>
          <a:xfrm>
            <a:off x="1005840" y="3730752"/>
            <a:ext cx="5852160" cy="365760"/>
          </a:xfrm>
          <a:prstGeom prst="rect">
            <a:avLst/>
          </a:prstGeom>
          <a:noFill/>
          <a:ln/>
        </p:spPr>
        <p:txBody>
          <a:bodyPr wrap="square" lIns="0" tIns="0" rIns="0" bIns="0" rtlCol="0" anchor="ctr"/>
          <a:lstStyle/>
          <a:p>
            <a:pPr indent="0" marL="0">
              <a:buNone/>
            </a:pPr>
            <a:r>
              <a:rPr lang="en-US" sz="1150" dirty="0">
                <a:solidFill>
                  <a:srgbClr val="44546A"/>
                </a:solidFill>
                <a:latin typeface="Calibri" pitchFamily="34" charset="0"/>
                <a:ea typeface="Calibri" pitchFamily="34" charset="-122"/>
                <a:cs typeface="Calibri" pitchFamily="34" charset="-120"/>
              </a:rPr>
              <a:t>Concerns about data protection often slow everything down</a:t>
            </a:r>
            <a:endParaRPr lang="en-US" sz="1150" dirty="0"/>
          </a:p>
        </p:txBody>
      </p:sp>
      <p:pic>
        <p:nvPicPr>
          <p:cNvPr id="11" name="Image 2" descr="preencoded.png"/>
          <p:cNvPicPr>
            <a:picLocks noChangeAspect="1"/>
          </p:cNvPicPr>
          <p:nvPr/>
        </p:nvPicPr>
        <p:blipFill>
          <a:blip r:embed="rId3"/>
          <a:stretch>
            <a:fillRect/>
          </a:stretch>
        </p:blipFill>
        <p:spPr>
          <a:xfrm>
            <a:off x="548640" y="4379976"/>
            <a:ext cx="292608" cy="292608"/>
          </a:xfrm>
          <a:prstGeom prst="rect">
            <a:avLst/>
          </a:prstGeom>
        </p:spPr>
      </p:pic>
      <p:sp>
        <p:nvSpPr>
          <p:cNvPr id="12" name="Text 7"/>
          <p:cNvSpPr/>
          <p:nvPr/>
        </p:nvSpPr>
        <p:spPr>
          <a:xfrm>
            <a:off x="1005840" y="4297680"/>
            <a:ext cx="58521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Generic advice, specific problem</a:t>
            </a:r>
            <a:endParaRPr lang="en-US" sz="1400" dirty="0"/>
          </a:p>
        </p:txBody>
      </p:sp>
      <p:sp>
        <p:nvSpPr>
          <p:cNvPr id="13" name="Text 8"/>
          <p:cNvSpPr/>
          <p:nvPr/>
        </p:nvSpPr>
        <p:spPr>
          <a:xfrm>
            <a:off x="1005840" y="4599432"/>
            <a:ext cx="5852160" cy="365760"/>
          </a:xfrm>
          <a:prstGeom prst="rect">
            <a:avLst/>
          </a:prstGeom>
          <a:noFill/>
          <a:ln/>
        </p:spPr>
        <p:txBody>
          <a:bodyPr wrap="square" lIns="0" tIns="0" rIns="0" bIns="0" rtlCol="0" anchor="ctr"/>
          <a:lstStyle/>
          <a:p>
            <a:pPr indent="0" marL="0">
              <a:buNone/>
            </a:pPr>
            <a:r>
              <a:rPr lang="en-US" sz="1150" dirty="0">
                <a:solidFill>
                  <a:srgbClr val="44546A"/>
                </a:solidFill>
                <a:latin typeface="Calibri" pitchFamily="34" charset="0"/>
                <a:ea typeface="Calibri" pitchFamily="34" charset="-122"/>
                <a:cs typeface="Calibri" pitchFamily="34" charset="-120"/>
              </a:rPr>
              <a:t>Most frameworks don't account for retail's seasonal demand swings</a:t>
            </a:r>
            <a:endParaRPr lang="en-US" sz="1150" dirty="0"/>
          </a:p>
        </p:txBody>
      </p:sp>
      <p:sp>
        <p:nvSpPr>
          <p:cNvPr id="14" name="Shape 9"/>
          <p:cNvSpPr/>
          <p:nvPr/>
        </p:nvSpPr>
        <p:spPr>
          <a:xfrm>
            <a:off x="7360920" y="1417320"/>
            <a:ext cx="4251960" cy="4206240"/>
          </a:xfrm>
          <a:prstGeom prst="roundRect">
            <a:avLst>
              <a:gd name="adj" fmla="val 2174"/>
            </a:avLst>
          </a:prstGeom>
          <a:solidFill>
            <a:srgbClr val="1E2761"/>
          </a:solidFill>
          <a:ln/>
          <a:effectLst>
            <a:outerShdw sx="100000" sy="100000" kx="0" ky="0" algn="bl" rotWithShape="0" blurRad="1290320000" dist="483870000" dir="324000000000">
              <a:srgbClr val="1E2761">
                <a:alpha val="1800000000"/>
              </a:srgbClr>
            </a:outerShdw>
          </a:effectLst>
        </p:spPr>
      </p:sp>
      <p:pic>
        <p:nvPicPr>
          <p:cNvPr id="15" name="Image 3" descr="preencoded.png"/>
          <p:cNvPicPr>
            <a:picLocks noChangeAspect="1"/>
          </p:cNvPicPr>
          <p:nvPr/>
        </p:nvPicPr>
        <p:blipFill>
          <a:blip r:embed="rId4"/>
          <a:stretch>
            <a:fillRect/>
          </a:stretch>
        </p:blipFill>
        <p:spPr>
          <a:xfrm>
            <a:off x="7726680" y="1783080"/>
            <a:ext cx="457200" cy="457200"/>
          </a:xfrm>
          <a:prstGeom prst="rect">
            <a:avLst/>
          </a:prstGeom>
        </p:spPr>
      </p:pic>
      <p:sp>
        <p:nvSpPr>
          <p:cNvPr id="16" name="Text 10"/>
          <p:cNvSpPr/>
          <p:nvPr/>
        </p:nvSpPr>
        <p:spPr>
          <a:xfrm>
            <a:off x="7726680" y="2331720"/>
            <a:ext cx="3566160" cy="274320"/>
          </a:xfrm>
          <a:prstGeom prst="rect">
            <a:avLst/>
          </a:prstGeom>
          <a:noFill/>
          <a:ln/>
        </p:spPr>
        <p:txBody>
          <a:bodyPr wrap="square" lIns="0" tIns="0" rIns="0" bIns="0" rtlCol="0" anchor="ctr"/>
          <a:lstStyle/>
          <a:p>
            <a:pPr indent="0" marL="0">
              <a:buNone/>
            </a:pPr>
            <a:r>
              <a:rPr lang="en-US" sz="1100" b="1" spc="200" kern="0" dirty="0">
                <a:solidFill>
                  <a:srgbClr val="5FC7C2"/>
                </a:solidFill>
                <a:latin typeface="Calibri" pitchFamily="34" charset="0"/>
                <a:ea typeface="Calibri" pitchFamily="34" charset="-122"/>
                <a:cs typeface="Calibri" pitchFamily="34" charset="-120"/>
              </a:rPr>
              <a:t>RESEARCH QUESTION</a:t>
            </a:r>
            <a:endParaRPr lang="en-US" sz="1100" dirty="0"/>
          </a:p>
        </p:txBody>
      </p:sp>
      <p:sp>
        <p:nvSpPr>
          <p:cNvPr id="17" name="Text 11"/>
          <p:cNvSpPr/>
          <p:nvPr/>
        </p:nvSpPr>
        <p:spPr>
          <a:xfrm>
            <a:off x="7726680" y="2697480"/>
            <a:ext cx="3520440" cy="2011680"/>
          </a:xfrm>
          <a:prstGeom prst="rect">
            <a:avLst/>
          </a:prstGeom>
          <a:noFill/>
          <a:ln/>
        </p:spPr>
        <p:txBody>
          <a:bodyPr wrap="square" lIns="0" tIns="0" rIns="0" bIns="0" rtlCol="0" anchor="ctr"/>
          <a:lstStyle/>
          <a:p>
            <a:pPr indent="0" marL="0">
              <a:lnSpc>
                <a:spcPct val="135000"/>
              </a:lnSpc>
              <a:buNone/>
            </a:pPr>
            <a:r>
              <a:rPr lang="en-US" sz="1600" i="1" dirty="0">
                <a:solidFill>
                  <a:srgbClr val="FFFFFF"/>
                </a:solidFill>
                <a:latin typeface="Cambria" pitchFamily="34" charset="0"/>
                <a:ea typeface="Cambria" pitchFamily="34" charset="-122"/>
                <a:cs typeface="Cambria" pitchFamily="34" charset="-120"/>
              </a:rPr>
              <a:t>How can a retail business implement cloud computing well, while managing the risk, cost, and organizational change that comes with it?</a:t>
            </a:r>
            <a:endParaRPr lang="en-US" sz="1600" dirty="0"/>
          </a:p>
        </p:txBody>
      </p:sp>
      <p:sp>
        <p:nvSpPr>
          <p:cNvPr id="18" name="Shape 12"/>
          <p:cNvSpPr/>
          <p:nvPr/>
        </p:nvSpPr>
        <p:spPr>
          <a:xfrm>
            <a:off x="7726680" y="4892040"/>
            <a:ext cx="1097280" cy="0"/>
          </a:xfrm>
          <a:prstGeom prst="line">
            <a:avLst/>
          </a:prstGeom>
          <a:noFill/>
          <a:ln w="25400">
            <a:solidFill>
              <a:srgbClr val="0E8C8C"/>
            </a:solidFill>
            <a:prstDash val="solid"/>
          </a:ln>
        </p:spPr>
      </p:sp>
      <p:sp>
        <p:nvSpPr>
          <p:cNvPr id="19" name="Text 13"/>
          <p:cNvSpPr/>
          <p:nvPr/>
        </p:nvSpPr>
        <p:spPr>
          <a:xfrm>
            <a:off x="7726680" y="5029200"/>
            <a:ext cx="3520440" cy="365760"/>
          </a:xfrm>
          <a:prstGeom prst="rect">
            <a:avLst/>
          </a:prstGeom>
          <a:noFill/>
          <a:ln/>
        </p:spPr>
        <p:txBody>
          <a:bodyPr wrap="square" lIns="0" tIns="0" rIns="0" bIns="0" rtlCol="0" anchor="ctr"/>
          <a:lstStyle/>
          <a:p>
            <a:pPr indent="0" marL="0">
              <a:buNone/>
            </a:pPr>
            <a:r>
              <a:rPr lang="en-US" sz="1200" dirty="0">
                <a:solidFill>
                  <a:srgbClr val="EAF1FB"/>
                </a:solidFill>
                <a:latin typeface="Calibri" pitchFamily="34" charset="0"/>
                <a:ea typeface="Calibri" pitchFamily="34" charset="-122"/>
                <a:cs typeface="Calibri" pitchFamily="34" charset="-120"/>
              </a:rPr>
              <a:t>Focus sector: Retail</a:t>
            </a:r>
            <a:endParaRPr lang="en-US" sz="1200" dirty="0"/>
          </a:p>
        </p:txBody>
      </p:sp>
      <p:sp>
        <p:nvSpPr>
          <p:cNvPr id="20" name="Text 14"/>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1" name="Text 15"/>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Four Objectives, One Goal</a:t>
            </a:r>
            <a:endParaRPr lang="en-US" sz="3000" dirty="0"/>
          </a:p>
        </p:txBody>
      </p:sp>
      <p:sp>
        <p:nvSpPr>
          <p:cNvPr id="4" name="Shape 2"/>
          <p:cNvSpPr/>
          <p:nvPr/>
        </p:nvSpPr>
        <p:spPr>
          <a:xfrm>
            <a:off x="548640" y="1691640"/>
            <a:ext cx="2651760" cy="3931920"/>
          </a:xfrm>
          <a:prstGeom prst="roundRect">
            <a:avLst>
              <a:gd name="adj" fmla="val 3448"/>
            </a:avLst>
          </a:prstGeom>
          <a:solidFill>
            <a:srgbClr val="F4F7FC"/>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5" name="Shape 3"/>
          <p:cNvSpPr/>
          <p:nvPr/>
        </p:nvSpPr>
        <p:spPr>
          <a:xfrm>
            <a:off x="1508760" y="2011680"/>
            <a:ext cx="731520" cy="731520"/>
          </a:xfrm>
          <a:prstGeom prst="ellipse">
            <a:avLst/>
          </a:prstGeom>
          <a:solidFill>
            <a:srgbClr val="1E2761"/>
          </a:solidFill>
          <a:ln/>
        </p:spPr>
      </p:sp>
      <p:pic>
        <p:nvPicPr>
          <p:cNvPr id="6" name="Image 0" descr="preencoded.png"/>
          <p:cNvPicPr>
            <a:picLocks noChangeAspect="1"/>
          </p:cNvPicPr>
          <p:nvPr/>
        </p:nvPicPr>
        <p:blipFill>
          <a:blip r:embed="rId1"/>
          <a:stretch>
            <a:fillRect/>
          </a:stretch>
        </p:blipFill>
        <p:spPr>
          <a:xfrm>
            <a:off x="1673352" y="2176272"/>
            <a:ext cx="402336" cy="402336"/>
          </a:xfrm>
          <a:prstGeom prst="rect">
            <a:avLst/>
          </a:prstGeom>
        </p:spPr>
      </p:pic>
      <p:sp>
        <p:nvSpPr>
          <p:cNvPr id="7" name="Text 4"/>
          <p:cNvSpPr/>
          <p:nvPr/>
        </p:nvSpPr>
        <p:spPr>
          <a:xfrm>
            <a:off x="685800" y="2971800"/>
            <a:ext cx="2377440" cy="41148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Evaluate</a:t>
            </a:r>
            <a:endParaRPr lang="en-US" sz="1900" dirty="0"/>
          </a:p>
        </p:txBody>
      </p:sp>
      <p:sp>
        <p:nvSpPr>
          <p:cNvPr id="8" name="Text 5"/>
          <p:cNvSpPr/>
          <p:nvPr/>
        </p:nvSpPr>
        <p:spPr>
          <a:xfrm>
            <a:off x="749808" y="3474720"/>
            <a:ext cx="2249424" cy="1920240"/>
          </a:xfrm>
          <a:prstGeom prst="rect">
            <a:avLst/>
          </a:prstGeom>
          <a:noFill/>
          <a:ln/>
        </p:spPr>
        <p:txBody>
          <a:bodyPr wrap="square" lIns="0" tIns="0" rIns="0" bIns="0" rtlCol="0" anchor="ctr"/>
          <a:lstStyle/>
          <a:p>
            <a:pPr algn="ctr" indent="0" marL="0">
              <a:lnSpc>
                <a:spcPct val="130000"/>
              </a:lnSpc>
              <a:buNone/>
            </a:pPr>
            <a:r>
              <a:rPr lang="en-US" sz="1200" dirty="0">
                <a:solidFill>
                  <a:srgbClr val="44546A"/>
                </a:solidFill>
                <a:latin typeface="Calibri" pitchFamily="34" charset="0"/>
                <a:ea typeface="Calibri" pitchFamily="34" charset="-122"/>
                <a:cs typeface="Calibri" pitchFamily="34" charset="-120"/>
              </a:rPr>
              <a:t>The benefits and challenges of adopting cloud computing in a business setting</a:t>
            </a:r>
            <a:endParaRPr lang="en-US" sz="1200" dirty="0"/>
          </a:p>
        </p:txBody>
      </p:sp>
      <p:sp>
        <p:nvSpPr>
          <p:cNvPr id="9" name="Text 6"/>
          <p:cNvSpPr/>
          <p:nvPr/>
        </p:nvSpPr>
        <p:spPr>
          <a:xfrm>
            <a:off x="685800" y="5120640"/>
            <a:ext cx="2377440" cy="365760"/>
          </a:xfrm>
          <a:prstGeom prst="rect">
            <a:avLst/>
          </a:prstGeom>
          <a:noFill/>
          <a:ln/>
        </p:spPr>
        <p:txBody>
          <a:bodyPr wrap="square" lIns="0" tIns="0" rIns="0" bIns="0" rtlCol="0" anchor="ctr"/>
          <a:lstStyle/>
          <a:p>
            <a:pPr algn="ctr" indent="0" marL="0">
              <a:buNone/>
            </a:pPr>
            <a:r>
              <a:rPr lang="en-US" sz="1300" b="1" dirty="0">
                <a:solidFill>
                  <a:srgbClr val="0E8C8C"/>
                </a:solidFill>
                <a:latin typeface="Calibri" pitchFamily="34" charset="0"/>
                <a:ea typeface="Calibri" pitchFamily="34" charset="-122"/>
                <a:cs typeface="Calibri" pitchFamily="34" charset="-120"/>
              </a:rPr>
              <a:t>01</a:t>
            </a:r>
            <a:endParaRPr lang="en-US" sz="1300" dirty="0"/>
          </a:p>
        </p:txBody>
      </p:sp>
      <p:sp>
        <p:nvSpPr>
          <p:cNvPr id="10" name="Shape 7"/>
          <p:cNvSpPr/>
          <p:nvPr/>
        </p:nvSpPr>
        <p:spPr>
          <a:xfrm>
            <a:off x="3429000" y="1691640"/>
            <a:ext cx="2651760" cy="3931920"/>
          </a:xfrm>
          <a:prstGeom prst="roundRect">
            <a:avLst>
              <a:gd name="adj" fmla="val 3448"/>
            </a:avLst>
          </a:prstGeom>
          <a:solidFill>
            <a:srgbClr val="FFFFFF"/>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11" name="Shape 8"/>
          <p:cNvSpPr/>
          <p:nvPr/>
        </p:nvSpPr>
        <p:spPr>
          <a:xfrm>
            <a:off x="4389120" y="2011680"/>
            <a:ext cx="731520" cy="731520"/>
          </a:xfrm>
          <a:prstGeom prst="ellipse">
            <a:avLst/>
          </a:prstGeom>
          <a:solidFill>
            <a:srgbClr val="1E2761"/>
          </a:solidFill>
          <a:ln/>
        </p:spPr>
      </p:sp>
      <p:pic>
        <p:nvPicPr>
          <p:cNvPr id="12" name="Image 1" descr="preencoded.png"/>
          <p:cNvPicPr>
            <a:picLocks noChangeAspect="1"/>
          </p:cNvPicPr>
          <p:nvPr/>
        </p:nvPicPr>
        <p:blipFill>
          <a:blip r:embed="rId2"/>
          <a:stretch>
            <a:fillRect/>
          </a:stretch>
        </p:blipFill>
        <p:spPr>
          <a:xfrm>
            <a:off x="4553712" y="2176272"/>
            <a:ext cx="402336" cy="402336"/>
          </a:xfrm>
          <a:prstGeom prst="rect">
            <a:avLst/>
          </a:prstGeom>
        </p:spPr>
      </p:pic>
      <p:sp>
        <p:nvSpPr>
          <p:cNvPr id="13" name="Text 9"/>
          <p:cNvSpPr/>
          <p:nvPr/>
        </p:nvSpPr>
        <p:spPr>
          <a:xfrm>
            <a:off x="3566160" y="2971800"/>
            <a:ext cx="2377440" cy="41148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Analyze</a:t>
            </a:r>
            <a:endParaRPr lang="en-US" sz="1900" dirty="0"/>
          </a:p>
        </p:txBody>
      </p:sp>
      <p:sp>
        <p:nvSpPr>
          <p:cNvPr id="14" name="Text 10"/>
          <p:cNvSpPr/>
          <p:nvPr/>
        </p:nvSpPr>
        <p:spPr>
          <a:xfrm>
            <a:off x="3630168" y="3474720"/>
            <a:ext cx="2249424" cy="1920240"/>
          </a:xfrm>
          <a:prstGeom prst="rect">
            <a:avLst/>
          </a:prstGeom>
          <a:noFill/>
          <a:ln/>
        </p:spPr>
        <p:txBody>
          <a:bodyPr wrap="square" lIns="0" tIns="0" rIns="0" bIns="0" rtlCol="0" anchor="ctr"/>
          <a:lstStyle/>
          <a:p>
            <a:pPr algn="ctr" indent="0" marL="0">
              <a:lnSpc>
                <a:spcPct val="130000"/>
              </a:lnSpc>
              <a:buNone/>
            </a:pPr>
            <a:r>
              <a:rPr lang="en-US" sz="1200" dirty="0">
                <a:solidFill>
                  <a:srgbClr val="44546A"/>
                </a:solidFill>
                <a:latin typeface="Calibri" pitchFamily="34" charset="0"/>
                <a:ea typeface="Calibri" pitchFamily="34" charset="-122"/>
                <a:cs typeface="Calibri" pitchFamily="34" charset="-120"/>
              </a:rPr>
              <a:t>What cloud computing actually does to operational efficiency in retail</a:t>
            </a:r>
            <a:endParaRPr lang="en-US" sz="1200" dirty="0"/>
          </a:p>
        </p:txBody>
      </p:sp>
      <p:sp>
        <p:nvSpPr>
          <p:cNvPr id="15" name="Text 11"/>
          <p:cNvSpPr/>
          <p:nvPr/>
        </p:nvSpPr>
        <p:spPr>
          <a:xfrm>
            <a:off x="3566160" y="5120640"/>
            <a:ext cx="2377440" cy="365760"/>
          </a:xfrm>
          <a:prstGeom prst="rect">
            <a:avLst/>
          </a:prstGeom>
          <a:noFill/>
          <a:ln/>
        </p:spPr>
        <p:txBody>
          <a:bodyPr wrap="square" lIns="0" tIns="0" rIns="0" bIns="0" rtlCol="0" anchor="ctr"/>
          <a:lstStyle/>
          <a:p>
            <a:pPr algn="ctr" indent="0" marL="0">
              <a:buNone/>
            </a:pPr>
            <a:r>
              <a:rPr lang="en-US" sz="1300" b="1" dirty="0">
                <a:solidFill>
                  <a:srgbClr val="0E8C8C"/>
                </a:solidFill>
                <a:latin typeface="Calibri" pitchFamily="34" charset="0"/>
                <a:ea typeface="Calibri" pitchFamily="34" charset="-122"/>
                <a:cs typeface="Calibri" pitchFamily="34" charset="-120"/>
              </a:rPr>
              <a:t>02</a:t>
            </a:r>
            <a:endParaRPr lang="en-US" sz="1300" dirty="0"/>
          </a:p>
        </p:txBody>
      </p:sp>
      <p:sp>
        <p:nvSpPr>
          <p:cNvPr id="16" name="Shape 12"/>
          <p:cNvSpPr/>
          <p:nvPr/>
        </p:nvSpPr>
        <p:spPr>
          <a:xfrm>
            <a:off x="6309360" y="1691640"/>
            <a:ext cx="2651760" cy="3931920"/>
          </a:xfrm>
          <a:prstGeom prst="roundRect">
            <a:avLst>
              <a:gd name="adj" fmla="val 3448"/>
            </a:avLst>
          </a:prstGeom>
          <a:solidFill>
            <a:srgbClr val="F4F7FC"/>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17" name="Shape 13"/>
          <p:cNvSpPr/>
          <p:nvPr/>
        </p:nvSpPr>
        <p:spPr>
          <a:xfrm>
            <a:off x="7269480" y="2011680"/>
            <a:ext cx="731520" cy="731520"/>
          </a:xfrm>
          <a:prstGeom prst="ellipse">
            <a:avLst/>
          </a:prstGeom>
          <a:solidFill>
            <a:srgbClr val="1E2761"/>
          </a:solidFill>
          <a:ln/>
        </p:spPr>
      </p:sp>
      <p:pic>
        <p:nvPicPr>
          <p:cNvPr id="18" name="Image 2" descr="preencoded.png"/>
          <p:cNvPicPr>
            <a:picLocks noChangeAspect="1"/>
          </p:cNvPicPr>
          <p:nvPr/>
        </p:nvPicPr>
        <p:blipFill>
          <a:blip r:embed="rId3"/>
          <a:stretch>
            <a:fillRect/>
          </a:stretch>
        </p:blipFill>
        <p:spPr>
          <a:xfrm>
            <a:off x="7434072" y="2176272"/>
            <a:ext cx="402336" cy="402336"/>
          </a:xfrm>
          <a:prstGeom prst="rect">
            <a:avLst/>
          </a:prstGeom>
        </p:spPr>
      </p:pic>
      <p:sp>
        <p:nvSpPr>
          <p:cNvPr id="19" name="Text 14"/>
          <p:cNvSpPr/>
          <p:nvPr/>
        </p:nvSpPr>
        <p:spPr>
          <a:xfrm>
            <a:off x="6446520" y="2971800"/>
            <a:ext cx="2377440" cy="41148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Assess</a:t>
            </a:r>
            <a:endParaRPr lang="en-US" sz="1900" dirty="0"/>
          </a:p>
        </p:txBody>
      </p:sp>
      <p:sp>
        <p:nvSpPr>
          <p:cNvPr id="20" name="Text 15"/>
          <p:cNvSpPr/>
          <p:nvPr/>
        </p:nvSpPr>
        <p:spPr>
          <a:xfrm>
            <a:off x="6510528" y="3474720"/>
            <a:ext cx="2249424" cy="1920240"/>
          </a:xfrm>
          <a:prstGeom prst="rect">
            <a:avLst/>
          </a:prstGeom>
          <a:noFill/>
          <a:ln/>
        </p:spPr>
        <p:txBody>
          <a:bodyPr wrap="square" lIns="0" tIns="0" rIns="0" bIns="0" rtlCol="0" anchor="ctr"/>
          <a:lstStyle/>
          <a:p>
            <a:pPr algn="ctr" indent="0" marL="0">
              <a:lnSpc>
                <a:spcPct val="130000"/>
              </a:lnSpc>
              <a:buNone/>
            </a:pPr>
            <a:r>
              <a:rPr lang="en-US" sz="1200" dirty="0">
                <a:solidFill>
                  <a:srgbClr val="44546A"/>
                </a:solidFill>
                <a:latin typeface="Calibri" pitchFamily="34" charset="0"/>
                <a:ea typeface="Calibri" pitchFamily="34" charset="-122"/>
                <a:cs typeface="Calibri" pitchFamily="34" charset="-120"/>
              </a:rPr>
              <a:t>The security and privacy questions that come with moving data to the cloud</a:t>
            </a:r>
            <a:endParaRPr lang="en-US" sz="1200" dirty="0"/>
          </a:p>
        </p:txBody>
      </p:sp>
      <p:sp>
        <p:nvSpPr>
          <p:cNvPr id="21" name="Text 16"/>
          <p:cNvSpPr/>
          <p:nvPr/>
        </p:nvSpPr>
        <p:spPr>
          <a:xfrm>
            <a:off x="6446520" y="5120640"/>
            <a:ext cx="2377440" cy="365760"/>
          </a:xfrm>
          <a:prstGeom prst="rect">
            <a:avLst/>
          </a:prstGeom>
          <a:noFill/>
          <a:ln/>
        </p:spPr>
        <p:txBody>
          <a:bodyPr wrap="square" lIns="0" tIns="0" rIns="0" bIns="0" rtlCol="0" anchor="ctr"/>
          <a:lstStyle/>
          <a:p>
            <a:pPr algn="ctr" indent="0" marL="0">
              <a:buNone/>
            </a:pPr>
            <a:r>
              <a:rPr lang="en-US" sz="1300" b="1" dirty="0">
                <a:solidFill>
                  <a:srgbClr val="0E8C8C"/>
                </a:solidFill>
                <a:latin typeface="Calibri" pitchFamily="34" charset="0"/>
                <a:ea typeface="Calibri" pitchFamily="34" charset="-122"/>
                <a:cs typeface="Calibri" pitchFamily="34" charset="-120"/>
              </a:rPr>
              <a:t>03</a:t>
            </a:r>
            <a:endParaRPr lang="en-US" sz="1300" dirty="0"/>
          </a:p>
        </p:txBody>
      </p:sp>
      <p:sp>
        <p:nvSpPr>
          <p:cNvPr id="22" name="Shape 17"/>
          <p:cNvSpPr/>
          <p:nvPr/>
        </p:nvSpPr>
        <p:spPr>
          <a:xfrm>
            <a:off x="9189720" y="1691640"/>
            <a:ext cx="2651760" cy="3931920"/>
          </a:xfrm>
          <a:prstGeom prst="roundRect">
            <a:avLst>
              <a:gd name="adj" fmla="val 3448"/>
            </a:avLst>
          </a:prstGeom>
          <a:solidFill>
            <a:srgbClr val="FFFFFF"/>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23" name="Shape 18"/>
          <p:cNvSpPr/>
          <p:nvPr/>
        </p:nvSpPr>
        <p:spPr>
          <a:xfrm>
            <a:off x="10149840" y="2011680"/>
            <a:ext cx="731520" cy="731520"/>
          </a:xfrm>
          <a:prstGeom prst="ellipse">
            <a:avLst/>
          </a:prstGeom>
          <a:solidFill>
            <a:srgbClr val="1E2761"/>
          </a:solidFill>
          <a:ln/>
        </p:spPr>
      </p:sp>
      <p:pic>
        <p:nvPicPr>
          <p:cNvPr id="24" name="Image 3" descr="preencoded.png"/>
          <p:cNvPicPr>
            <a:picLocks noChangeAspect="1"/>
          </p:cNvPicPr>
          <p:nvPr/>
        </p:nvPicPr>
        <p:blipFill>
          <a:blip r:embed="rId4"/>
          <a:stretch>
            <a:fillRect/>
          </a:stretch>
        </p:blipFill>
        <p:spPr>
          <a:xfrm>
            <a:off x="10314432" y="2176272"/>
            <a:ext cx="402336" cy="402336"/>
          </a:xfrm>
          <a:prstGeom prst="rect">
            <a:avLst/>
          </a:prstGeom>
        </p:spPr>
      </p:pic>
      <p:sp>
        <p:nvSpPr>
          <p:cNvPr id="25" name="Text 19"/>
          <p:cNvSpPr/>
          <p:nvPr/>
        </p:nvSpPr>
        <p:spPr>
          <a:xfrm>
            <a:off x="9326880" y="2971800"/>
            <a:ext cx="2377440" cy="41148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Explore</a:t>
            </a:r>
            <a:endParaRPr lang="en-US" sz="1900" dirty="0"/>
          </a:p>
        </p:txBody>
      </p:sp>
      <p:sp>
        <p:nvSpPr>
          <p:cNvPr id="26" name="Text 20"/>
          <p:cNvSpPr/>
          <p:nvPr/>
        </p:nvSpPr>
        <p:spPr>
          <a:xfrm>
            <a:off x="9390888" y="3474720"/>
            <a:ext cx="2249424" cy="1920240"/>
          </a:xfrm>
          <a:prstGeom prst="rect">
            <a:avLst/>
          </a:prstGeom>
          <a:noFill/>
          <a:ln/>
        </p:spPr>
        <p:txBody>
          <a:bodyPr wrap="square" lIns="0" tIns="0" rIns="0" bIns="0" rtlCol="0" anchor="ctr"/>
          <a:lstStyle/>
          <a:p>
            <a:pPr algn="ctr" indent="0" marL="0">
              <a:lnSpc>
                <a:spcPct val="130000"/>
              </a:lnSpc>
              <a:buNone/>
            </a:pPr>
            <a:r>
              <a:rPr lang="en-US" sz="1200" dirty="0">
                <a:solidFill>
                  <a:srgbClr val="44546A"/>
                </a:solidFill>
                <a:latin typeface="Calibri" pitchFamily="34" charset="0"/>
                <a:ea typeface="Calibri" pitchFamily="34" charset="-122"/>
                <a:cs typeface="Calibri" pitchFamily="34" charset="-120"/>
              </a:rPr>
              <a:t>Best practices and strategies for getting implementation right</a:t>
            </a:r>
            <a:endParaRPr lang="en-US" sz="1200" dirty="0"/>
          </a:p>
        </p:txBody>
      </p:sp>
      <p:sp>
        <p:nvSpPr>
          <p:cNvPr id="27" name="Text 21"/>
          <p:cNvSpPr/>
          <p:nvPr/>
        </p:nvSpPr>
        <p:spPr>
          <a:xfrm>
            <a:off x="9326880" y="5120640"/>
            <a:ext cx="2377440" cy="365760"/>
          </a:xfrm>
          <a:prstGeom prst="rect">
            <a:avLst/>
          </a:prstGeom>
          <a:noFill/>
          <a:ln/>
        </p:spPr>
        <p:txBody>
          <a:bodyPr wrap="square" lIns="0" tIns="0" rIns="0" bIns="0" rtlCol="0" anchor="ctr"/>
          <a:lstStyle/>
          <a:p>
            <a:pPr algn="ctr" indent="0" marL="0">
              <a:buNone/>
            </a:pPr>
            <a:r>
              <a:rPr lang="en-US" sz="1300" b="1" dirty="0">
                <a:solidFill>
                  <a:srgbClr val="0E8C8C"/>
                </a:solidFill>
                <a:latin typeface="Calibri" pitchFamily="34" charset="0"/>
                <a:ea typeface="Calibri" pitchFamily="34" charset="-122"/>
                <a:cs typeface="Calibri" pitchFamily="34" charset="-120"/>
              </a:rPr>
              <a:t>04</a:t>
            </a:r>
            <a:endParaRPr lang="en-US" sz="1300" dirty="0"/>
          </a:p>
        </p:txBody>
      </p:sp>
      <p:sp>
        <p:nvSpPr>
          <p:cNvPr id="28" name="Text 22"/>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9" name="Text 23"/>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RESEARCH APPROACH</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Combining Multiple Sources of Evidence</a:t>
            </a:r>
            <a:endParaRPr lang="en-US" sz="3000" dirty="0"/>
          </a:p>
        </p:txBody>
      </p:sp>
      <p:sp>
        <p:nvSpPr>
          <p:cNvPr id="4" name="Shape 2"/>
          <p:cNvSpPr/>
          <p:nvPr/>
        </p:nvSpPr>
        <p:spPr>
          <a:xfrm>
            <a:off x="548640" y="1783080"/>
            <a:ext cx="2606040" cy="3383280"/>
          </a:xfrm>
          <a:prstGeom prst="roundRect">
            <a:avLst>
              <a:gd name="adj" fmla="val 3509"/>
            </a:avLst>
          </a:prstGeom>
          <a:solidFill>
            <a:srgbClr val="FFFFFF"/>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5" name="Shape 3"/>
          <p:cNvSpPr/>
          <p:nvPr/>
        </p:nvSpPr>
        <p:spPr>
          <a:xfrm>
            <a:off x="777240" y="2039112"/>
            <a:ext cx="566928" cy="566928"/>
          </a:xfrm>
          <a:prstGeom prst="ellipse">
            <a:avLst/>
          </a:prstGeom>
          <a:solidFill>
            <a:srgbClr val="0E8C8C"/>
          </a:solidFill>
          <a:ln/>
        </p:spPr>
      </p:sp>
      <p:pic>
        <p:nvPicPr>
          <p:cNvPr id="6" name="Image 0" descr="preencoded.png"/>
          <p:cNvPicPr>
            <a:picLocks noChangeAspect="1"/>
          </p:cNvPicPr>
          <p:nvPr/>
        </p:nvPicPr>
        <p:blipFill>
          <a:blip r:embed="rId1"/>
          <a:stretch>
            <a:fillRect/>
          </a:stretch>
        </p:blipFill>
        <p:spPr>
          <a:xfrm>
            <a:off x="914400" y="2176272"/>
            <a:ext cx="292608" cy="292608"/>
          </a:xfrm>
          <a:prstGeom prst="rect">
            <a:avLst/>
          </a:prstGeom>
        </p:spPr>
      </p:pic>
      <p:sp>
        <p:nvSpPr>
          <p:cNvPr id="7" name="Text 4"/>
          <p:cNvSpPr/>
          <p:nvPr/>
        </p:nvSpPr>
        <p:spPr>
          <a:xfrm>
            <a:off x="749808" y="2770632"/>
            <a:ext cx="2203704" cy="5486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libri" pitchFamily="34" charset="0"/>
                <a:ea typeface="Calibri" pitchFamily="34" charset="-122"/>
                <a:cs typeface="Calibri" pitchFamily="34" charset="-120"/>
              </a:rPr>
              <a:t>Literature Review</a:t>
            </a:r>
            <a:endParaRPr lang="en-US" sz="1450" dirty="0"/>
          </a:p>
        </p:txBody>
      </p:sp>
      <p:sp>
        <p:nvSpPr>
          <p:cNvPr id="8" name="Text 5"/>
          <p:cNvSpPr/>
          <p:nvPr/>
        </p:nvSpPr>
        <p:spPr>
          <a:xfrm>
            <a:off x="749808" y="3337560"/>
            <a:ext cx="2203704" cy="1691640"/>
          </a:xfrm>
          <a:prstGeom prst="rect">
            <a:avLst/>
          </a:prstGeom>
          <a:noFill/>
          <a:ln/>
        </p:spPr>
        <p:txBody>
          <a:bodyPr wrap="square" lIns="0" tIns="0" rIns="0" bIns="0" rtlCol="0" anchor="ctr"/>
          <a:lstStyle/>
          <a:p>
            <a:pPr indent="0" marL="0">
              <a:lnSpc>
                <a:spcPct val="130000"/>
              </a:lnSpc>
              <a:buNone/>
            </a:pPr>
            <a:r>
              <a:rPr lang="en-US" sz="1100" dirty="0">
                <a:solidFill>
                  <a:srgbClr val="44546A"/>
                </a:solidFill>
                <a:latin typeface="Calibri" pitchFamily="34" charset="0"/>
                <a:ea typeface="Calibri" pitchFamily="34" charset="-122"/>
                <a:cs typeface="Calibri" pitchFamily="34" charset="-120"/>
              </a:rPr>
              <a:t>Cloud service and deployment models, how retail has approached adoption, and Agile vs. Waterfall migration thinking</a:t>
            </a:r>
            <a:endParaRPr lang="en-US" sz="1100" dirty="0"/>
          </a:p>
        </p:txBody>
      </p:sp>
      <p:sp>
        <p:nvSpPr>
          <p:cNvPr id="9" name="Shape 6"/>
          <p:cNvSpPr/>
          <p:nvPr/>
        </p:nvSpPr>
        <p:spPr>
          <a:xfrm>
            <a:off x="3159252" y="3291840"/>
            <a:ext cx="237744" cy="237744"/>
          </a:xfrm>
          <a:prstGeom prst="ellipse">
            <a:avLst/>
          </a:prstGeom>
          <a:solidFill>
            <a:srgbClr val="D9A441"/>
          </a:solidFill>
          <a:ln/>
        </p:spPr>
      </p:sp>
      <p:sp>
        <p:nvSpPr>
          <p:cNvPr id="10" name="Shape 7"/>
          <p:cNvSpPr/>
          <p:nvPr/>
        </p:nvSpPr>
        <p:spPr>
          <a:xfrm>
            <a:off x="3401568" y="1783080"/>
            <a:ext cx="2606040" cy="3383280"/>
          </a:xfrm>
          <a:prstGeom prst="roundRect">
            <a:avLst>
              <a:gd name="adj" fmla="val 3509"/>
            </a:avLst>
          </a:prstGeom>
          <a:solidFill>
            <a:srgbClr val="F4F7FC"/>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11" name="Shape 8"/>
          <p:cNvSpPr/>
          <p:nvPr/>
        </p:nvSpPr>
        <p:spPr>
          <a:xfrm>
            <a:off x="3630168" y="2039112"/>
            <a:ext cx="566928" cy="566928"/>
          </a:xfrm>
          <a:prstGeom prst="ellipse">
            <a:avLst/>
          </a:prstGeom>
          <a:solidFill>
            <a:srgbClr val="0E8C8C"/>
          </a:solidFill>
          <a:ln/>
        </p:spPr>
      </p:sp>
      <p:pic>
        <p:nvPicPr>
          <p:cNvPr id="12" name="Image 1" descr="preencoded.png"/>
          <p:cNvPicPr>
            <a:picLocks noChangeAspect="1"/>
          </p:cNvPicPr>
          <p:nvPr/>
        </p:nvPicPr>
        <p:blipFill>
          <a:blip r:embed="rId2"/>
          <a:stretch>
            <a:fillRect/>
          </a:stretch>
        </p:blipFill>
        <p:spPr>
          <a:xfrm>
            <a:off x="3767328" y="2176272"/>
            <a:ext cx="292608" cy="292608"/>
          </a:xfrm>
          <a:prstGeom prst="rect">
            <a:avLst/>
          </a:prstGeom>
        </p:spPr>
      </p:pic>
      <p:sp>
        <p:nvSpPr>
          <p:cNvPr id="13" name="Text 9"/>
          <p:cNvSpPr/>
          <p:nvPr/>
        </p:nvSpPr>
        <p:spPr>
          <a:xfrm>
            <a:off x="3602736" y="2770632"/>
            <a:ext cx="2203704" cy="5486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libri" pitchFamily="34" charset="0"/>
                <a:ea typeface="Calibri" pitchFamily="34" charset="-122"/>
                <a:cs typeface="Calibri" pitchFamily="34" charset="-120"/>
              </a:rPr>
              <a:t>Practitioner Interviews</a:t>
            </a:r>
            <a:endParaRPr lang="en-US" sz="1450" dirty="0"/>
          </a:p>
        </p:txBody>
      </p:sp>
      <p:sp>
        <p:nvSpPr>
          <p:cNvPr id="14" name="Text 10"/>
          <p:cNvSpPr/>
          <p:nvPr/>
        </p:nvSpPr>
        <p:spPr>
          <a:xfrm>
            <a:off x="3602736" y="3337560"/>
            <a:ext cx="2203704" cy="1691640"/>
          </a:xfrm>
          <a:prstGeom prst="rect">
            <a:avLst/>
          </a:prstGeom>
          <a:noFill/>
          <a:ln/>
        </p:spPr>
        <p:txBody>
          <a:bodyPr wrap="square" lIns="0" tIns="0" rIns="0" bIns="0" rtlCol="0" anchor="ctr"/>
          <a:lstStyle/>
          <a:p>
            <a:pPr indent="0" marL="0">
              <a:lnSpc>
                <a:spcPct val="130000"/>
              </a:lnSpc>
              <a:buNone/>
            </a:pPr>
            <a:r>
              <a:rPr lang="en-US" sz="1100" dirty="0">
                <a:solidFill>
                  <a:srgbClr val="44546A"/>
                </a:solidFill>
                <a:latin typeface="Calibri" pitchFamily="34" charset="0"/>
                <a:ea typeface="Calibri" pitchFamily="34" charset="-122"/>
                <a:cs typeface="Calibri" pitchFamily="34" charset="-120"/>
              </a:rPr>
              <a:t>3 short structured interviews with IT professionals in retail and enterprise roles</a:t>
            </a:r>
            <a:endParaRPr lang="en-US" sz="1100" dirty="0"/>
          </a:p>
        </p:txBody>
      </p:sp>
      <p:sp>
        <p:nvSpPr>
          <p:cNvPr id="15" name="Shape 11"/>
          <p:cNvSpPr/>
          <p:nvPr/>
        </p:nvSpPr>
        <p:spPr>
          <a:xfrm>
            <a:off x="6012180" y="3291840"/>
            <a:ext cx="237744" cy="237744"/>
          </a:xfrm>
          <a:prstGeom prst="ellipse">
            <a:avLst/>
          </a:prstGeom>
          <a:solidFill>
            <a:srgbClr val="D9A441"/>
          </a:solidFill>
          <a:ln/>
        </p:spPr>
      </p:sp>
      <p:sp>
        <p:nvSpPr>
          <p:cNvPr id="16" name="Shape 12"/>
          <p:cNvSpPr/>
          <p:nvPr/>
        </p:nvSpPr>
        <p:spPr>
          <a:xfrm>
            <a:off x="6254496" y="1783080"/>
            <a:ext cx="2606040" cy="3383280"/>
          </a:xfrm>
          <a:prstGeom prst="roundRect">
            <a:avLst>
              <a:gd name="adj" fmla="val 3509"/>
            </a:avLst>
          </a:prstGeom>
          <a:solidFill>
            <a:srgbClr val="FFFFFF"/>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17" name="Shape 13"/>
          <p:cNvSpPr/>
          <p:nvPr/>
        </p:nvSpPr>
        <p:spPr>
          <a:xfrm>
            <a:off x="6483096" y="2039112"/>
            <a:ext cx="566928" cy="566928"/>
          </a:xfrm>
          <a:prstGeom prst="ellipse">
            <a:avLst/>
          </a:prstGeom>
          <a:solidFill>
            <a:srgbClr val="0E8C8C"/>
          </a:solidFill>
          <a:ln/>
        </p:spPr>
      </p:sp>
      <p:pic>
        <p:nvPicPr>
          <p:cNvPr id="18" name="Image 2" descr="preencoded.png"/>
          <p:cNvPicPr>
            <a:picLocks noChangeAspect="1"/>
          </p:cNvPicPr>
          <p:nvPr/>
        </p:nvPicPr>
        <p:blipFill>
          <a:blip r:embed="rId3"/>
          <a:stretch>
            <a:fillRect/>
          </a:stretch>
        </p:blipFill>
        <p:spPr>
          <a:xfrm>
            <a:off x="6620256" y="2176272"/>
            <a:ext cx="292608" cy="292608"/>
          </a:xfrm>
          <a:prstGeom prst="rect">
            <a:avLst/>
          </a:prstGeom>
        </p:spPr>
      </p:pic>
      <p:sp>
        <p:nvSpPr>
          <p:cNvPr id="19" name="Text 14"/>
          <p:cNvSpPr/>
          <p:nvPr/>
        </p:nvSpPr>
        <p:spPr>
          <a:xfrm>
            <a:off x="6455664" y="2770632"/>
            <a:ext cx="2203704" cy="5486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libri" pitchFamily="34" charset="0"/>
                <a:ea typeface="Calibri" pitchFamily="34" charset="-122"/>
                <a:cs typeface="Calibri" pitchFamily="34" charset="-120"/>
              </a:rPr>
              <a:t>Case Patterns</a:t>
            </a:r>
            <a:endParaRPr lang="en-US" sz="1450" dirty="0"/>
          </a:p>
        </p:txBody>
      </p:sp>
      <p:sp>
        <p:nvSpPr>
          <p:cNvPr id="20" name="Text 15"/>
          <p:cNvSpPr/>
          <p:nvPr/>
        </p:nvSpPr>
        <p:spPr>
          <a:xfrm>
            <a:off x="6455664" y="3337560"/>
            <a:ext cx="2203704" cy="1691640"/>
          </a:xfrm>
          <a:prstGeom prst="rect">
            <a:avLst/>
          </a:prstGeom>
          <a:noFill/>
          <a:ln/>
        </p:spPr>
        <p:txBody>
          <a:bodyPr wrap="square" lIns="0" tIns="0" rIns="0" bIns="0" rtlCol="0" anchor="ctr"/>
          <a:lstStyle/>
          <a:p>
            <a:pPr indent="0" marL="0">
              <a:lnSpc>
                <a:spcPct val="130000"/>
              </a:lnSpc>
              <a:buNone/>
            </a:pPr>
            <a:r>
              <a:rPr lang="en-US" sz="1100" dirty="0">
                <a:solidFill>
                  <a:srgbClr val="44546A"/>
                </a:solidFill>
                <a:latin typeface="Calibri" pitchFamily="34" charset="0"/>
                <a:ea typeface="Calibri" pitchFamily="34" charset="-122"/>
                <a:cs typeface="Calibri" pitchFamily="34" charset="-120"/>
              </a:rPr>
              <a:t>Two illustrative retail migration patterns, looked at for their operational outcomes</a:t>
            </a:r>
            <a:endParaRPr lang="en-US" sz="1100" dirty="0"/>
          </a:p>
        </p:txBody>
      </p:sp>
      <p:sp>
        <p:nvSpPr>
          <p:cNvPr id="21" name="Shape 16"/>
          <p:cNvSpPr/>
          <p:nvPr/>
        </p:nvSpPr>
        <p:spPr>
          <a:xfrm>
            <a:off x="8865108" y="3291840"/>
            <a:ext cx="237744" cy="237744"/>
          </a:xfrm>
          <a:prstGeom prst="ellipse">
            <a:avLst/>
          </a:prstGeom>
          <a:solidFill>
            <a:srgbClr val="D9A441"/>
          </a:solidFill>
          <a:ln/>
        </p:spPr>
      </p:sp>
      <p:sp>
        <p:nvSpPr>
          <p:cNvPr id="22" name="Shape 17"/>
          <p:cNvSpPr/>
          <p:nvPr/>
        </p:nvSpPr>
        <p:spPr>
          <a:xfrm>
            <a:off x="9107424" y="1783080"/>
            <a:ext cx="2606040" cy="3383280"/>
          </a:xfrm>
          <a:prstGeom prst="roundRect">
            <a:avLst>
              <a:gd name="adj" fmla="val 3509"/>
            </a:avLst>
          </a:prstGeom>
          <a:solidFill>
            <a:srgbClr val="F4F7FC"/>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23" name="Shape 18"/>
          <p:cNvSpPr/>
          <p:nvPr/>
        </p:nvSpPr>
        <p:spPr>
          <a:xfrm>
            <a:off x="9336024" y="2039112"/>
            <a:ext cx="566928" cy="566928"/>
          </a:xfrm>
          <a:prstGeom prst="ellipse">
            <a:avLst/>
          </a:prstGeom>
          <a:solidFill>
            <a:srgbClr val="0E8C8C"/>
          </a:solidFill>
          <a:ln/>
        </p:spPr>
      </p:sp>
      <p:pic>
        <p:nvPicPr>
          <p:cNvPr id="24" name="Image 3" descr="preencoded.png"/>
          <p:cNvPicPr>
            <a:picLocks noChangeAspect="1"/>
          </p:cNvPicPr>
          <p:nvPr/>
        </p:nvPicPr>
        <p:blipFill>
          <a:blip r:embed="rId4"/>
          <a:stretch>
            <a:fillRect/>
          </a:stretch>
        </p:blipFill>
        <p:spPr>
          <a:xfrm>
            <a:off x="9473184" y="2176272"/>
            <a:ext cx="292608" cy="292608"/>
          </a:xfrm>
          <a:prstGeom prst="rect">
            <a:avLst/>
          </a:prstGeom>
        </p:spPr>
      </p:pic>
      <p:sp>
        <p:nvSpPr>
          <p:cNvPr id="25" name="Text 19"/>
          <p:cNvSpPr/>
          <p:nvPr/>
        </p:nvSpPr>
        <p:spPr>
          <a:xfrm>
            <a:off x="9308592" y="2770632"/>
            <a:ext cx="2203704" cy="548640"/>
          </a:xfrm>
          <a:prstGeom prst="rect">
            <a:avLst/>
          </a:prstGeom>
          <a:noFill/>
          <a:ln/>
        </p:spPr>
        <p:txBody>
          <a:bodyPr wrap="square" lIns="0" tIns="0" rIns="0" bIns="0" rtlCol="0" anchor="ctr"/>
          <a:lstStyle/>
          <a:p>
            <a:pPr indent="0" marL="0">
              <a:lnSpc>
                <a:spcPct val="110000"/>
              </a:lnSpc>
              <a:buNone/>
            </a:pPr>
            <a:r>
              <a:rPr lang="en-US" sz="1450" b="1" dirty="0">
                <a:solidFill>
                  <a:srgbClr val="1E2761"/>
                </a:solidFill>
                <a:latin typeface="Calibri" pitchFamily="34" charset="0"/>
                <a:ea typeface="Calibri" pitchFamily="34" charset="-122"/>
                <a:cs typeface="Calibri" pitchFamily="34" charset="-120"/>
              </a:rPr>
              <a:t>System Analysis &amp; Design</a:t>
            </a:r>
            <a:endParaRPr lang="en-US" sz="1450" dirty="0"/>
          </a:p>
        </p:txBody>
      </p:sp>
      <p:sp>
        <p:nvSpPr>
          <p:cNvPr id="26" name="Text 20"/>
          <p:cNvSpPr/>
          <p:nvPr/>
        </p:nvSpPr>
        <p:spPr>
          <a:xfrm>
            <a:off x="9308592" y="3337560"/>
            <a:ext cx="2203704" cy="1691640"/>
          </a:xfrm>
          <a:prstGeom prst="rect">
            <a:avLst/>
          </a:prstGeom>
          <a:noFill/>
          <a:ln/>
        </p:spPr>
        <p:txBody>
          <a:bodyPr wrap="square" lIns="0" tIns="0" rIns="0" bIns="0" rtlCol="0" anchor="ctr"/>
          <a:lstStyle/>
          <a:p>
            <a:pPr indent="0" marL="0">
              <a:lnSpc>
                <a:spcPct val="130000"/>
              </a:lnSpc>
              <a:buNone/>
            </a:pPr>
            <a:r>
              <a:rPr lang="en-US" sz="1100" dirty="0">
                <a:solidFill>
                  <a:srgbClr val="44546A"/>
                </a:solidFill>
                <a:latin typeface="Calibri" pitchFamily="34" charset="0"/>
                <a:ea typeface="Calibri" pitchFamily="34" charset="-122"/>
                <a:cs typeface="Calibri" pitchFamily="34" charset="-120"/>
              </a:rPr>
              <a:t>DFDs, UML diagrams, and an ER model turning the findings into a conceptual architecture</a:t>
            </a:r>
            <a:endParaRPr lang="en-US" sz="1100" dirty="0"/>
          </a:p>
        </p:txBody>
      </p:sp>
      <p:sp>
        <p:nvSpPr>
          <p:cNvPr id="27" name="Text 21"/>
          <p:cNvSpPr/>
          <p:nvPr/>
        </p:nvSpPr>
        <p:spPr>
          <a:xfrm>
            <a:off x="548640" y="5440680"/>
            <a:ext cx="10515600" cy="365760"/>
          </a:xfrm>
          <a:prstGeom prst="rect">
            <a:avLst/>
          </a:prstGeom>
          <a:noFill/>
          <a:ln/>
        </p:spPr>
        <p:txBody>
          <a:bodyPr wrap="square" lIns="0" tIns="0" rIns="0" bIns="0" rtlCol="0" anchor="ctr"/>
          <a:lstStyle/>
          <a:p>
            <a:pPr indent="0" marL="0">
              <a:buNone/>
            </a:pPr>
            <a:r>
              <a:rPr lang="en-US" sz="1250" i="1" dirty="0">
                <a:solidFill>
                  <a:srgbClr val="6B7A99"/>
                </a:solidFill>
                <a:latin typeface="Calibri" pitchFamily="34" charset="0"/>
                <a:ea typeface="Calibri" pitchFamily="34" charset="-122"/>
                <a:cs typeface="Calibri" pitchFamily="34" charset="-120"/>
              </a:rPr>
              <a:t>Findings were checked against each other across all three sources before being treated as solid.</a:t>
            </a:r>
            <a:endParaRPr lang="en-US" sz="1250" dirty="0"/>
          </a:p>
        </p:txBody>
      </p:sp>
      <p:sp>
        <p:nvSpPr>
          <p:cNvPr id="28" name="Text 22"/>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9" name="Text 23"/>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SYSTEM ANALYSIS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From On-Premises to Cloud-Native</a:t>
            </a:r>
            <a:endParaRPr lang="en-US" sz="3000" dirty="0"/>
          </a:p>
        </p:txBody>
      </p:sp>
      <p:sp>
        <p:nvSpPr>
          <p:cNvPr id="4" name="Shape 2"/>
          <p:cNvSpPr/>
          <p:nvPr/>
        </p:nvSpPr>
        <p:spPr>
          <a:xfrm>
            <a:off x="548640" y="1554480"/>
            <a:ext cx="5349240" cy="4480560"/>
          </a:xfrm>
          <a:prstGeom prst="roundRect">
            <a:avLst>
              <a:gd name="adj" fmla="val 2041"/>
            </a:avLst>
          </a:prstGeom>
          <a:solidFill>
            <a:srgbClr val="F4F7FC"/>
          </a:solidFill>
          <a:ln/>
        </p:spPr>
      </p:sp>
      <p:sp>
        <p:nvSpPr>
          <p:cNvPr id="5" name="Text 3"/>
          <p:cNvSpPr/>
          <p:nvPr/>
        </p:nvSpPr>
        <p:spPr>
          <a:xfrm>
            <a:off x="868680" y="1783080"/>
            <a:ext cx="4572000" cy="320040"/>
          </a:xfrm>
          <a:prstGeom prst="rect">
            <a:avLst/>
          </a:prstGeom>
          <a:noFill/>
          <a:ln/>
        </p:spPr>
        <p:txBody>
          <a:bodyPr wrap="square" lIns="0" tIns="0" rIns="0" bIns="0" rtlCol="0" anchor="ctr"/>
          <a:lstStyle/>
          <a:p>
            <a:pPr indent="0" marL="0">
              <a:buNone/>
            </a:pPr>
            <a:r>
              <a:rPr lang="en-US" sz="1300" b="1" spc="150" kern="0" dirty="0">
                <a:solidFill>
                  <a:srgbClr val="44546A"/>
                </a:solidFill>
                <a:latin typeface="Calibri" pitchFamily="34" charset="0"/>
                <a:ea typeface="Calibri" pitchFamily="34" charset="-122"/>
                <a:cs typeface="Calibri" pitchFamily="34" charset="-120"/>
              </a:rPr>
              <a:t>EXISTING SYSTEM</a:t>
            </a:r>
            <a:endParaRPr lang="en-US" sz="1300" dirty="0"/>
          </a:p>
        </p:txBody>
      </p:sp>
      <p:sp>
        <p:nvSpPr>
          <p:cNvPr id="6" name="Text 4"/>
          <p:cNvSpPr/>
          <p:nvPr/>
        </p:nvSpPr>
        <p:spPr>
          <a:xfrm>
            <a:off x="868680" y="2103120"/>
            <a:ext cx="47548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On-Premises Infrastructure</a:t>
            </a:r>
            <a:endParaRPr lang="en-US" sz="1700" dirty="0"/>
          </a:p>
        </p:txBody>
      </p:sp>
      <p:pic>
        <p:nvPicPr>
          <p:cNvPr id="7" name="Image 0" descr="preencoded.png"/>
          <p:cNvPicPr>
            <a:picLocks noChangeAspect="1"/>
          </p:cNvPicPr>
          <p:nvPr/>
        </p:nvPicPr>
        <p:blipFill>
          <a:blip r:embed="rId1"/>
          <a:srcRect l="0" r="0" t="0" b="0"/>
          <a:stretch/>
        </p:blipFill>
        <p:spPr>
          <a:xfrm>
            <a:off x="868680" y="2670048"/>
            <a:ext cx="201168" cy="201168"/>
          </a:xfrm>
          <a:prstGeom prst="rect">
            <a:avLst/>
          </a:prstGeom>
        </p:spPr>
      </p:pic>
      <p:sp>
        <p:nvSpPr>
          <p:cNvPr id="8" name="Shape 5"/>
          <p:cNvSpPr/>
          <p:nvPr/>
        </p:nvSpPr>
        <p:spPr>
          <a:xfrm>
            <a:off x="868680" y="2651760"/>
            <a:ext cx="237744" cy="237744"/>
          </a:xfrm>
          <a:prstGeom prst="ellipse">
            <a:avLst/>
          </a:prstGeom>
          <a:solidFill>
            <a:srgbClr val="D9A441"/>
          </a:solidFill>
          <a:ln/>
        </p:spPr>
      </p:sp>
      <p:pic>
        <p:nvPicPr>
          <p:cNvPr id="9" name="Image 1" descr="preencoded.png"/>
          <p:cNvPicPr>
            <a:picLocks noChangeAspect="1"/>
          </p:cNvPicPr>
          <p:nvPr/>
        </p:nvPicPr>
        <p:blipFill>
          <a:blip r:embed="rId2"/>
          <a:stretch>
            <a:fillRect/>
          </a:stretch>
        </p:blipFill>
        <p:spPr>
          <a:xfrm>
            <a:off x="923544" y="2697480"/>
            <a:ext cx="128016" cy="128016"/>
          </a:xfrm>
          <a:prstGeom prst="rect">
            <a:avLst/>
          </a:prstGeom>
        </p:spPr>
      </p:pic>
      <p:sp>
        <p:nvSpPr>
          <p:cNvPr id="10" name="Text 6"/>
          <p:cNvSpPr/>
          <p:nvPr/>
        </p:nvSpPr>
        <p:spPr>
          <a:xfrm>
            <a:off x="1234440" y="2587752"/>
            <a:ext cx="4526280" cy="457200"/>
          </a:xfrm>
          <a:prstGeom prst="rect">
            <a:avLst/>
          </a:prstGeom>
          <a:noFill/>
          <a:ln/>
        </p:spPr>
        <p:txBody>
          <a:bodyPr wrap="square" lIns="0" tIns="0" rIns="0" bIns="0" rtlCol="0" anchor="ctr"/>
          <a:lstStyle/>
          <a:p>
            <a:pPr indent="0" marL="0">
              <a:lnSpc>
                <a:spcPct val="115000"/>
              </a:lnSpc>
              <a:buNone/>
            </a:pPr>
            <a:r>
              <a:rPr lang="en-US" sz="1250" dirty="0">
                <a:solidFill>
                  <a:srgbClr val="44546A"/>
                </a:solidFill>
                <a:latin typeface="Calibri" pitchFamily="34" charset="0"/>
                <a:ea typeface="Calibri" pitchFamily="34" charset="-122"/>
                <a:cs typeface="Calibri" pitchFamily="34" charset="-120"/>
              </a:rPr>
              <a:t>Heavy upfront spend on hardware</a:t>
            </a:r>
            <a:endParaRPr lang="en-US" sz="1250" dirty="0"/>
          </a:p>
        </p:txBody>
      </p:sp>
      <p:pic>
        <p:nvPicPr>
          <p:cNvPr id="11" name="Image 2" descr="preencoded.png"/>
          <p:cNvPicPr>
            <a:picLocks noChangeAspect="1"/>
          </p:cNvPicPr>
          <p:nvPr/>
        </p:nvPicPr>
        <p:blipFill>
          <a:blip r:embed="rId3"/>
          <a:srcRect l="0" r="0" t="0" b="0"/>
          <a:stretch/>
        </p:blipFill>
        <p:spPr>
          <a:xfrm>
            <a:off x="868680" y="3273552"/>
            <a:ext cx="201168" cy="201168"/>
          </a:xfrm>
          <a:prstGeom prst="rect">
            <a:avLst/>
          </a:prstGeom>
        </p:spPr>
      </p:pic>
      <p:sp>
        <p:nvSpPr>
          <p:cNvPr id="12" name="Shape 7"/>
          <p:cNvSpPr/>
          <p:nvPr/>
        </p:nvSpPr>
        <p:spPr>
          <a:xfrm>
            <a:off x="868680" y="3255264"/>
            <a:ext cx="237744" cy="237744"/>
          </a:xfrm>
          <a:prstGeom prst="ellipse">
            <a:avLst/>
          </a:prstGeom>
          <a:solidFill>
            <a:srgbClr val="D9A441"/>
          </a:solidFill>
          <a:ln/>
        </p:spPr>
      </p:sp>
      <p:pic>
        <p:nvPicPr>
          <p:cNvPr id="13" name="Image 3" descr="preencoded.png"/>
          <p:cNvPicPr>
            <a:picLocks noChangeAspect="1"/>
          </p:cNvPicPr>
          <p:nvPr/>
        </p:nvPicPr>
        <p:blipFill>
          <a:blip r:embed="rId4"/>
          <a:stretch>
            <a:fillRect/>
          </a:stretch>
        </p:blipFill>
        <p:spPr>
          <a:xfrm>
            <a:off x="923544" y="3300984"/>
            <a:ext cx="128016" cy="128016"/>
          </a:xfrm>
          <a:prstGeom prst="rect">
            <a:avLst/>
          </a:prstGeom>
        </p:spPr>
      </p:pic>
      <p:sp>
        <p:nvSpPr>
          <p:cNvPr id="14" name="Text 8"/>
          <p:cNvSpPr/>
          <p:nvPr/>
        </p:nvSpPr>
        <p:spPr>
          <a:xfrm>
            <a:off x="1234440" y="3191256"/>
            <a:ext cx="4526280" cy="457200"/>
          </a:xfrm>
          <a:prstGeom prst="rect">
            <a:avLst/>
          </a:prstGeom>
          <a:noFill/>
          <a:ln/>
        </p:spPr>
        <p:txBody>
          <a:bodyPr wrap="square" lIns="0" tIns="0" rIns="0" bIns="0" rtlCol="0" anchor="ctr"/>
          <a:lstStyle/>
          <a:p>
            <a:pPr indent="0" marL="0">
              <a:lnSpc>
                <a:spcPct val="115000"/>
              </a:lnSpc>
              <a:buNone/>
            </a:pPr>
            <a:r>
              <a:rPr lang="en-US" sz="1250" dirty="0">
                <a:solidFill>
                  <a:srgbClr val="44546A"/>
                </a:solidFill>
                <a:latin typeface="Calibri" pitchFamily="34" charset="0"/>
                <a:ea typeface="Calibri" pitchFamily="34" charset="-122"/>
                <a:cs typeface="Calibri" pitchFamily="34" charset="-120"/>
              </a:rPr>
              <a:t>Scaling is manual — new capacity can take weeks to provision</a:t>
            </a:r>
            <a:endParaRPr lang="en-US" sz="1250" dirty="0"/>
          </a:p>
        </p:txBody>
      </p:sp>
      <p:pic>
        <p:nvPicPr>
          <p:cNvPr id="15" name="Image 4" descr="preencoded.png"/>
          <p:cNvPicPr>
            <a:picLocks noChangeAspect="1"/>
          </p:cNvPicPr>
          <p:nvPr/>
        </p:nvPicPr>
        <p:blipFill>
          <a:blip r:embed="rId5"/>
          <a:srcRect l="0" r="0" t="0" b="0"/>
          <a:stretch/>
        </p:blipFill>
        <p:spPr>
          <a:xfrm>
            <a:off x="868680" y="3877056"/>
            <a:ext cx="201168" cy="201168"/>
          </a:xfrm>
          <a:prstGeom prst="rect">
            <a:avLst/>
          </a:prstGeom>
        </p:spPr>
      </p:pic>
      <p:sp>
        <p:nvSpPr>
          <p:cNvPr id="16" name="Shape 9"/>
          <p:cNvSpPr/>
          <p:nvPr/>
        </p:nvSpPr>
        <p:spPr>
          <a:xfrm>
            <a:off x="868680" y="3858768"/>
            <a:ext cx="237744" cy="237744"/>
          </a:xfrm>
          <a:prstGeom prst="ellipse">
            <a:avLst/>
          </a:prstGeom>
          <a:solidFill>
            <a:srgbClr val="D9A441"/>
          </a:solidFill>
          <a:ln/>
        </p:spPr>
      </p:sp>
      <p:pic>
        <p:nvPicPr>
          <p:cNvPr id="17" name="Image 5" descr="preencoded.png"/>
          <p:cNvPicPr>
            <a:picLocks noChangeAspect="1"/>
          </p:cNvPicPr>
          <p:nvPr/>
        </p:nvPicPr>
        <p:blipFill>
          <a:blip r:embed="rId6"/>
          <a:stretch>
            <a:fillRect/>
          </a:stretch>
        </p:blipFill>
        <p:spPr>
          <a:xfrm>
            <a:off x="923544" y="3904488"/>
            <a:ext cx="128016" cy="128016"/>
          </a:xfrm>
          <a:prstGeom prst="rect">
            <a:avLst/>
          </a:prstGeom>
        </p:spPr>
      </p:pic>
      <p:sp>
        <p:nvSpPr>
          <p:cNvPr id="18" name="Text 10"/>
          <p:cNvSpPr/>
          <p:nvPr/>
        </p:nvSpPr>
        <p:spPr>
          <a:xfrm>
            <a:off x="1234440" y="3794760"/>
            <a:ext cx="4526280" cy="457200"/>
          </a:xfrm>
          <a:prstGeom prst="rect">
            <a:avLst/>
          </a:prstGeom>
          <a:noFill/>
          <a:ln/>
        </p:spPr>
        <p:txBody>
          <a:bodyPr wrap="square" lIns="0" tIns="0" rIns="0" bIns="0" rtlCol="0" anchor="ctr"/>
          <a:lstStyle/>
          <a:p>
            <a:pPr indent="0" marL="0">
              <a:lnSpc>
                <a:spcPct val="115000"/>
              </a:lnSpc>
              <a:buNone/>
            </a:pPr>
            <a:r>
              <a:rPr lang="en-US" sz="1250" dirty="0">
                <a:solidFill>
                  <a:srgbClr val="44546A"/>
                </a:solidFill>
                <a:latin typeface="Calibri" pitchFamily="34" charset="0"/>
                <a:ea typeface="Calibri" pitchFamily="34" charset="-122"/>
                <a:cs typeface="Calibri" pitchFamily="34" charset="-120"/>
              </a:rPr>
              <a:t>Each store is its own single point of failure</a:t>
            </a:r>
            <a:endParaRPr lang="en-US" sz="1250" dirty="0"/>
          </a:p>
        </p:txBody>
      </p:sp>
      <p:pic>
        <p:nvPicPr>
          <p:cNvPr id="19" name="Image 6" descr="preencoded.png"/>
          <p:cNvPicPr>
            <a:picLocks noChangeAspect="1"/>
          </p:cNvPicPr>
          <p:nvPr/>
        </p:nvPicPr>
        <p:blipFill>
          <a:blip r:embed="rId7"/>
          <a:srcRect l="0" r="0" t="0" b="0"/>
          <a:stretch/>
        </p:blipFill>
        <p:spPr>
          <a:xfrm>
            <a:off x="868680" y="4480560"/>
            <a:ext cx="201168" cy="201168"/>
          </a:xfrm>
          <a:prstGeom prst="rect">
            <a:avLst/>
          </a:prstGeom>
        </p:spPr>
      </p:pic>
      <p:sp>
        <p:nvSpPr>
          <p:cNvPr id="20" name="Shape 11"/>
          <p:cNvSpPr/>
          <p:nvPr/>
        </p:nvSpPr>
        <p:spPr>
          <a:xfrm>
            <a:off x="868680" y="4462272"/>
            <a:ext cx="237744" cy="237744"/>
          </a:xfrm>
          <a:prstGeom prst="ellipse">
            <a:avLst/>
          </a:prstGeom>
          <a:solidFill>
            <a:srgbClr val="D9A441"/>
          </a:solidFill>
          <a:ln/>
        </p:spPr>
      </p:sp>
      <p:pic>
        <p:nvPicPr>
          <p:cNvPr id="21" name="Image 7" descr="preencoded.png"/>
          <p:cNvPicPr>
            <a:picLocks noChangeAspect="1"/>
          </p:cNvPicPr>
          <p:nvPr/>
        </p:nvPicPr>
        <p:blipFill>
          <a:blip r:embed="rId8"/>
          <a:stretch>
            <a:fillRect/>
          </a:stretch>
        </p:blipFill>
        <p:spPr>
          <a:xfrm>
            <a:off x="923544" y="4507992"/>
            <a:ext cx="128016" cy="128016"/>
          </a:xfrm>
          <a:prstGeom prst="rect">
            <a:avLst/>
          </a:prstGeom>
        </p:spPr>
      </p:pic>
      <p:sp>
        <p:nvSpPr>
          <p:cNvPr id="22" name="Text 12"/>
          <p:cNvSpPr/>
          <p:nvPr/>
        </p:nvSpPr>
        <p:spPr>
          <a:xfrm>
            <a:off x="1234440" y="4398264"/>
            <a:ext cx="4526280" cy="457200"/>
          </a:xfrm>
          <a:prstGeom prst="rect">
            <a:avLst/>
          </a:prstGeom>
          <a:noFill/>
          <a:ln/>
        </p:spPr>
        <p:txBody>
          <a:bodyPr wrap="square" lIns="0" tIns="0" rIns="0" bIns="0" rtlCol="0" anchor="ctr"/>
          <a:lstStyle/>
          <a:p>
            <a:pPr indent="0" marL="0">
              <a:lnSpc>
                <a:spcPct val="115000"/>
              </a:lnSpc>
              <a:buNone/>
            </a:pPr>
            <a:r>
              <a:rPr lang="en-US" sz="1250" dirty="0">
                <a:solidFill>
                  <a:srgbClr val="44546A"/>
                </a:solidFill>
                <a:latin typeface="Calibri" pitchFamily="34" charset="0"/>
                <a:ea typeface="Calibri" pitchFamily="34" charset="-122"/>
                <a:cs typeface="Calibri" pitchFamily="34" charset="-120"/>
              </a:rPr>
              <a:t>Software updates roll out slowly, store by store</a:t>
            </a:r>
            <a:endParaRPr lang="en-US" sz="1250" dirty="0"/>
          </a:p>
        </p:txBody>
      </p:sp>
      <p:pic>
        <p:nvPicPr>
          <p:cNvPr id="23" name="Image 8" descr="preencoded.png"/>
          <p:cNvPicPr>
            <a:picLocks noChangeAspect="1"/>
          </p:cNvPicPr>
          <p:nvPr/>
        </p:nvPicPr>
        <p:blipFill>
          <a:blip r:embed="rId9"/>
          <a:srcRect l="0" r="0" t="0" b="0"/>
          <a:stretch/>
        </p:blipFill>
        <p:spPr>
          <a:xfrm>
            <a:off x="868680" y="5084064"/>
            <a:ext cx="201168" cy="201168"/>
          </a:xfrm>
          <a:prstGeom prst="rect">
            <a:avLst/>
          </a:prstGeom>
        </p:spPr>
      </p:pic>
      <p:sp>
        <p:nvSpPr>
          <p:cNvPr id="24" name="Shape 13"/>
          <p:cNvSpPr/>
          <p:nvPr/>
        </p:nvSpPr>
        <p:spPr>
          <a:xfrm>
            <a:off x="868680" y="5065776"/>
            <a:ext cx="237744" cy="237744"/>
          </a:xfrm>
          <a:prstGeom prst="ellipse">
            <a:avLst/>
          </a:prstGeom>
          <a:solidFill>
            <a:srgbClr val="D9A441"/>
          </a:solidFill>
          <a:ln/>
        </p:spPr>
      </p:sp>
      <p:pic>
        <p:nvPicPr>
          <p:cNvPr id="25" name="Image 9" descr="preencoded.png"/>
          <p:cNvPicPr>
            <a:picLocks noChangeAspect="1"/>
          </p:cNvPicPr>
          <p:nvPr/>
        </p:nvPicPr>
        <p:blipFill>
          <a:blip r:embed="rId10"/>
          <a:stretch>
            <a:fillRect/>
          </a:stretch>
        </p:blipFill>
        <p:spPr>
          <a:xfrm>
            <a:off x="923544" y="5111496"/>
            <a:ext cx="128016" cy="128016"/>
          </a:xfrm>
          <a:prstGeom prst="rect">
            <a:avLst/>
          </a:prstGeom>
        </p:spPr>
      </p:pic>
      <p:sp>
        <p:nvSpPr>
          <p:cNvPr id="26" name="Text 14"/>
          <p:cNvSpPr/>
          <p:nvPr/>
        </p:nvSpPr>
        <p:spPr>
          <a:xfrm>
            <a:off x="1234440" y="5001768"/>
            <a:ext cx="4526280" cy="457200"/>
          </a:xfrm>
          <a:prstGeom prst="rect">
            <a:avLst/>
          </a:prstGeom>
          <a:noFill/>
          <a:ln/>
        </p:spPr>
        <p:txBody>
          <a:bodyPr wrap="square" lIns="0" tIns="0" rIns="0" bIns="0" rtlCol="0" anchor="ctr"/>
          <a:lstStyle/>
          <a:p>
            <a:pPr indent="0" marL="0">
              <a:lnSpc>
                <a:spcPct val="115000"/>
              </a:lnSpc>
              <a:buNone/>
            </a:pPr>
            <a:r>
              <a:rPr lang="en-US" sz="1250" dirty="0">
                <a:solidFill>
                  <a:srgbClr val="44546A"/>
                </a:solidFill>
                <a:latin typeface="Calibri" pitchFamily="34" charset="0"/>
                <a:ea typeface="Calibri" pitchFamily="34" charset="-122"/>
                <a:cs typeface="Calibri" pitchFamily="34" charset="-120"/>
              </a:rPr>
              <a:t>Limited visibility into stock across stores</a:t>
            </a:r>
            <a:endParaRPr lang="en-US" sz="1250" dirty="0"/>
          </a:p>
        </p:txBody>
      </p:sp>
      <p:sp>
        <p:nvSpPr>
          <p:cNvPr id="27" name="Shape 15"/>
          <p:cNvSpPr/>
          <p:nvPr/>
        </p:nvSpPr>
        <p:spPr>
          <a:xfrm>
            <a:off x="6172200" y="1554480"/>
            <a:ext cx="5440680" cy="4480560"/>
          </a:xfrm>
          <a:prstGeom prst="roundRect">
            <a:avLst>
              <a:gd name="adj" fmla="val 2041"/>
            </a:avLst>
          </a:prstGeom>
          <a:solidFill>
            <a:srgbClr val="1E2761"/>
          </a:solidFill>
          <a:ln/>
          <a:effectLst>
            <a:outerShdw sx="100000" sy="100000" kx="0" ky="0" algn="bl" rotWithShape="0" blurRad="1290320000" dist="483870000" dir="324000000000">
              <a:srgbClr val="1E2761">
                <a:alpha val="1500000000"/>
              </a:srgbClr>
            </a:outerShdw>
          </a:effectLst>
        </p:spPr>
      </p:sp>
      <p:sp>
        <p:nvSpPr>
          <p:cNvPr id="28" name="Text 16"/>
          <p:cNvSpPr/>
          <p:nvPr/>
        </p:nvSpPr>
        <p:spPr>
          <a:xfrm>
            <a:off x="6492240" y="1783080"/>
            <a:ext cx="4572000" cy="320040"/>
          </a:xfrm>
          <a:prstGeom prst="rect">
            <a:avLst/>
          </a:prstGeom>
          <a:noFill/>
          <a:ln/>
        </p:spPr>
        <p:txBody>
          <a:bodyPr wrap="square" lIns="0" tIns="0" rIns="0" bIns="0" rtlCol="0" anchor="ctr"/>
          <a:lstStyle/>
          <a:p>
            <a:pPr indent="0" marL="0">
              <a:buNone/>
            </a:pPr>
            <a:r>
              <a:rPr lang="en-US" sz="1300" b="1" spc="150" kern="0" dirty="0">
                <a:solidFill>
                  <a:srgbClr val="5FC7C2"/>
                </a:solidFill>
                <a:latin typeface="Calibri" pitchFamily="34" charset="0"/>
                <a:ea typeface="Calibri" pitchFamily="34" charset="-122"/>
                <a:cs typeface="Calibri" pitchFamily="34" charset="-120"/>
              </a:rPr>
              <a:t>PROPOSED SYSTEM</a:t>
            </a:r>
            <a:endParaRPr lang="en-US" sz="1300" dirty="0"/>
          </a:p>
        </p:txBody>
      </p:sp>
      <p:sp>
        <p:nvSpPr>
          <p:cNvPr id="29" name="Text 17"/>
          <p:cNvSpPr/>
          <p:nvPr/>
        </p:nvSpPr>
        <p:spPr>
          <a:xfrm>
            <a:off x="6492240" y="2103120"/>
            <a:ext cx="48463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Hybrid Cloud Architecture</a:t>
            </a:r>
            <a:endParaRPr lang="en-US" sz="1700" dirty="0"/>
          </a:p>
        </p:txBody>
      </p:sp>
      <p:sp>
        <p:nvSpPr>
          <p:cNvPr id="30" name="Shape 18"/>
          <p:cNvSpPr/>
          <p:nvPr/>
        </p:nvSpPr>
        <p:spPr>
          <a:xfrm>
            <a:off x="6492240" y="2651760"/>
            <a:ext cx="237744" cy="237744"/>
          </a:xfrm>
          <a:prstGeom prst="ellipse">
            <a:avLst/>
          </a:prstGeom>
          <a:solidFill>
            <a:srgbClr val="0E8C8C"/>
          </a:solidFill>
          <a:ln/>
        </p:spPr>
      </p:sp>
      <p:pic>
        <p:nvPicPr>
          <p:cNvPr id="31" name="Image 10" descr="preencoded.png"/>
          <p:cNvPicPr>
            <a:picLocks noChangeAspect="1"/>
          </p:cNvPicPr>
          <p:nvPr/>
        </p:nvPicPr>
        <p:blipFill>
          <a:blip r:embed="rId11"/>
          <a:stretch>
            <a:fillRect/>
          </a:stretch>
        </p:blipFill>
        <p:spPr>
          <a:xfrm>
            <a:off x="6547104" y="2697480"/>
            <a:ext cx="128016" cy="128016"/>
          </a:xfrm>
          <a:prstGeom prst="rect">
            <a:avLst/>
          </a:prstGeom>
        </p:spPr>
      </p:pic>
      <p:sp>
        <p:nvSpPr>
          <p:cNvPr id="32" name="Text 19"/>
          <p:cNvSpPr/>
          <p:nvPr/>
        </p:nvSpPr>
        <p:spPr>
          <a:xfrm>
            <a:off x="6858000" y="2587752"/>
            <a:ext cx="4617720" cy="457200"/>
          </a:xfrm>
          <a:prstGeom prst="rect">
            <a:avLst/>
          </a:prstGeom>
          <a:noFill/>
          <a:ln/>
        </p:spPr>
        <p:txBody>
          <a:bodyPr wrap="square" lIns="0" tIns="0" rIns="0" bIns="0" rtlCol="0" anchor="ctr"/>
          <a:lstStyle/>
          <a:p>
            <a:pPr indent="0" marL="0">
              <a:lnSpc>
                <a:spcPct val="115000"/>
              </a:lnSpc>
              <a:buNone/>
            </a:pPr>
            <a:r>
              <a:rPr lang="en-US" sz="1250" dirty="0">
                <a:solidFill>
                  <a:srgbClr val="EAF1FB"/>
                </a:solidFill>
                <a:latin typeface="Calibri" pitchFamily="34" charset="0"/>
                <a:ea typeface="Calibri" pitchFamily="34" charset="-122"/>
                <a:cs typeface="Calibri" pitchFamily="34" charset="-120"/>
              </a:rPr>
              <a:t>Pay-as-you-go pricing keeps upfront investment low</a:t>
            </a:r>
            <a:endParaRPr lang="en-US" sz="1250" dirty="0"/>
          </a:p>
        </p:txBody>
      </p:sp>
      <p:sp>
        <p:nvSpPr>
          <p:cNvPr id="33" name="Shape 20"/>
          <p:cNvSpPr/>
          <p:nvPr/>
        </p:nvSpPr>
        <p:spPr>
          <a:xfrm>
            <a:off x="6492240" y="3255264"/>
            <a:ext cx="237744" cy="237744"/>
          </a:xfrm>
          <a:prstGeom prst="ellipse">
            <a:avLst/>
          </a:prstGeom>
          <a:solidFill>
            <a:srgbClr val="0E8C8C"/>
          </a:solidFill>
          <a:ln/>
        </p:spPr>
      </p:sp>
      <p:pic>
        <p:nvPicPr>
          <p:cNvPr id="34" name="Image 11" descr="preencoded.png"/>
          <p:cNvPicPr>
            <a:picLocks noChangeAspect="1"/>
          </p:cNvPicPr>
          <p:nvPr/>
        </p:nvPicPr>
        <p:blipFill>
          <a:blip r:embed="rId12"/>
          <a:stretch>
            <a:fillRect/>
          </a:stretch>
        </p:blipFill>
        <p:spPr>
          <a:xfrm>
            <a:off x="6547104" y="3300984"/>
            <a:ext cx="128016" cy="128016"/>
          </a:xfrm>
          <a:prstGeom prst="rect">
            <a:avLst/>
          </a:prstGeom>
        </p:spPr>
      </p:pic>
      <p:sp>
        <p:nvSpPr>
          <p:cNvPr id="35" name="Text 21"/>
          <p:cNvSpPr/>
          <p:nvPr/>
        </p:nvSpPr>
        <p:spPr>
          <a:xfrm>
            <a:off x="6858000" y="3191256"/>
            <a:ext cx="4617720" cy="457200"/>
          </a:xfrm>
          <a:prstGeom prst="rect">
            <a:avLst/>
          </a:prstGeom>
          <a:noFill/>
          <a:ln/>
        </p:spPr>
        <p:txBody>
          <a:bodyPr wrap="square" lIns="0" tIns="0" rIns="0" bIns="0" rtlCol="0" anchor="ctr"/>
          <a:lstStyle/>
          <a:p>
            <a:pPr indent="0" marL="0">
              <a:lnSpc>
                <a:spcPct val="115000"/>
              </a:lnSpc>
              <a:buNone/>
            </a:pPr>
            <a:r>
              <a:rPr lang="en-US" sz="1250" dirty="0">
                <a:solidFill>
                  <a:srgbClr val="EAF1FB"/>
                </a:solidFill>
                <a:latin typeface="Calibri" pitchFamily="34" charset="0"/>
                <a:ea typeface="Calibri" pitchFamily="34" charset="-122"/>
                <a:cs typeface="Calibri" pitchFamily="34" charset="-120"/>
              </a:rPr>
              <a:t>Auto-scaling absorbs demand spikes within minutes</a:t>
            </a:r>
            <a:endParaRPr lang="en-US" sz="1250" dirty="0"/>
          </a:p>
        </p:txBody>
      </p:sp>
      <p:sp>
        <p:nvSpPr>
          <p:cNvPr id="36" name="Shape 22"/>
          <p:cNvSpPr/>
          <p:nvPr/>
        </p:nvSpPr>
        <p:spPr>
          <a:xfrm>
            <a:off x="6492240" y="3858768"/>
            <a:ext cx="237744" cy="237744"/>
          </a:xfrm>
          <a:prstGeom prst="ellipse">
            <a:avLst/>
          </a:prstGeom>
          <a:solidFill>
            <a:srgbClr val="0E8C8C"/>
          </a:solidFill>
          <a:ln/>
        </p:spPr>
      </p:sp>
      <p:pic>
        <p:nvPicPr>
          <p:cNvPr id="37" name="Image 12" descr="preencoded.png"/>
          <p:cNvPicPr>
            <a:picLocks noChangeAspect="1"/>
          </p:cNvPicPr>
          <p:nvPr/>
        </p:nvPicPr>
        <p:blipFill>
          <a:blip r:embed="rId13"/>
          <a:stretch>
            <a:fillRect/>
          </a:stretch>
        </p:blipFill>
        <p:spPr>
          <a:xfrm>
            <a:off x="6547104" y="3904488"/>
            <a:ext cx="128016" cy="128016"/>
          </a:xfrm>
          <a:prstGeom prst="rect">
            <a:avLst/>
          </a:prstGeom>
        </p:spPr>
      </p:pic>
      <p:sp>
        <p:nvSpPr>
          <p:cNvPr id="38" name="Text 23"/>
          <p:cNvSpPr/>
          <p:nvPr/>
        </p:nvSpPr>
        <p:spPr>
          <a:xfrm>
            <a:off x="6858000" y="3794760"/>
            <a:ext cx="4617720" cy="457200"/>
          </a:xfrm>
          <a:prstGeom prst="rect">
            <a:avLst/>
          </a:prstGeom>
          <a:noFill/>
          <a:ln/>
        </p:spPr>
        <p:txBody>
          <a:bodyPr wrap="square" lIns="0" tIns="0" rIns="0" bIns="0" rtlCol="0" anchor="ctr"/>
          <a:lstStyle/>
          <a:p>
            <a:pPr indent="0" marL="0">
              <a:lnSpc>
                <a:spcPct val="115000"/>
              </a:lnSpc>
              <a:buNone/>
            </a:pPr>
            <a:r>
              <a:rPr lang="en-US" sz="1250" dirty="0">
                <a:solidFill>
                  <a:srgbClr val="EAF1FB"/>
                </a:solidFill>
                <a:latin typeface="Calibri" pitchFamily="34" charset="0"/>
                <a:ea typeface="Calibri" pitchFamily="34" charset="-122"/>
                <a:cs typeface="Calibri" pitchFamily="34" charset="-120"/>
              </a:rPr>
              <a:t>Redundancy and backups are built in and managed by the provider</a:t>
            </a:r>
            <a:endParaRPr lang="en-US" sz="1250" dirty="0"/>
          </a:p>
        </p:txBody>
      </p:sp>
      <p:sp>
        <p:nvSpPr>
          <p:cNvPr id="39" name="Shape 24"/>
          <p:cNvSpPr/>
          <p:nvPr/>
        </p:nvSpPr>
        <p:spPr>
          <a:xfrm>
            <a:off x="6492240" y="4462272"/>
            <a:ext cx="237744" cy="237744"/>
          </a:xfrm>
          <a:prstGeom prst="ellipse">
            <a:avLst/>
          </a:prstGeom>
          <a:solidFill>
            <a:srgbClr val="0E8C8C"/>
          </a:solidFill>
          <a:ln/>
        </p:spPr>
      </p:sp>
      <p:pic>
        <p:nvPicPr>
          <p:cNvPr id="40" name="Image 13" descr="preencoded.png"/>
          <p:cNvPicPr>
            <a:picLocks noChangeAspect="1"/>
          </p:cNvPicPr>
          <p:nvPr/>
        </p:nvPicPr>
        <p:blipFill>
          <a:blip r:embed="rId14"/>
          <a:stretch>
            <a:fillRect/>
          </a:stretch>
        </p:blipFill>
        <p:spPr>
          <a:xfrm>
            <a:off x="6547104" y="4507992"/>
            <a:ext cx="128016" cy="128016"/>
          </a:xfrm>
          <a:prstGeom prst="rect">
            <a:avLst/>
          </a:prstGeom>
        </p:spPr>
      </p:pic>
      <p:sp>
        <p:nvSpPr>
          <p:cNvPr id="41" name="Text 25"/>
          <p:cNvSpPr/>
          <p:nvPr/>
        </p:nvSpPr>
        <p:spPr>
          <a:xfrm>
            <a:off x="6858000" y="4398264"/>
            <a:ext cx="4617720" cy="457200"/>
          </a:xfrm>
          <a:prstGeom prst="rect">
            <a:avLst/>
          </a:prstGeom>
          <a:noFill/>
          <a:ln/>
        </p:spPr>
        <p:txBody>
          <a:bodyPr wrap="square" lIns="0" tIns="0" rIns="0" bIns="0" rtlCol="0" anchor="ctr"/>
          <a:lstStyle/>
          <a:p>
            <a:pPr indent="0" marL="0">
              <a:lnSpc>
                <a:spcPct val="115000"/>
              </a:lnSpc>
              <a:buNone/>
            </a:pPr>
            <a:r>
              <a:rPr lang="en-US" sz="1250" dirty="0">
                <a:solidFill>
                  <a:srgbClr val="EAF1FB"/>
                </a:solidFill>
                <a:latin typeface="Calibri" pitchFamily="34" charset="0"/>
                <a:ea typeface="Calibri" pitchFamily="34" charset="-122"/>
                <a:cs typeface="Calibri" pitchFamily="34" charset="-120"/>
              </a:rPr>
              <a:t>Updates roll out centrally, to every store at once</a:t>
            </a:r>
            <a:endParaRPr lang="en-US" sz="1250" dirty="0"/>
          </a:p>
        </p:txBody>
      </p:sp>
      <p:sp>
        <p:nvSpPr>
          <p:cNvPr id="42" name="Shape 26"/>
          <p:cNvSpPr/>
          <p:nvPr/>
        </p:nvSpPr>
        <p:spPr>
          <a:xfrm>
            <a:off x="6492240" y="5065776"/>
            <a:ext cx="237744" cy="237744"/>
          </a:xfrm>
          <a:prstGeom prst="ellipse">
            <a:avLst/>
          </a:prstGeom>
          <a:solidFill>
            <a:srgbClr val="0E8C8C"/>
          </a:solidFill>
          <a:ln/>
        </p:spPr>
      </p:sp>
      <p:pic>
        <p:nvPicPr>
          <p:cNvPr id="43" name="Image 14" descr="preencoded.png"/>
          <p:cNvPicPr>
            <a:picLocks noChangeAspect="1"/>
          </p:cNvPicPr>
          <p:nvPr/>
        </p:nvPicPr>
        <p:blipFill>
          <a:blip r:embed="rId15"/>
          <a:stretch>
            <a:fillRect/>
          </a:stretch>
        </p:blipFill>
        <p:spPr>
          <a:xfrm>
            <a:off x="6547104" y="5111496"/>
            <a:ext cx="128016" cy="128016"/>
          </a:xfrm>
          <a:prstGeom prst="rect">
            <a:avLst/>
          </a:prstGeom>
        </p:spPr>
      </p:pic>
      <p:sp>
        <p:nvSpPr>
          <p:cNvPr id="44" name="Text 27"/>
          <p:cNvSpPr/>
          <p:nvPr/>
        </p:nvSpPr>
        <p:spPr>
          <a:xfrm>
            <a:off x="6858000" y="5001768"/>
            <a:ext cx="4617720" cy="457200"/>
          </a:xfrm>
          <a:prstGeom prst="rect">
            <a:avLst/>
          </a:prstGeom>
          <a:noFill/>
          <a:ln/>
        </p:spPr>
        <p:txBody>
          <a:bodyPr wrap="square" lIns="0" tIns="0" rIns="0" bIns="0" rtlCol="0" anchor="ctr"/>
          <a:lstStyle/>
          <a:p>
            <a:pPr indent="0" marL="0">
              <a:lnSpc>
                <a:spcPct val="115000"/>
              </a:lnSpc>
              <a:buNone/>
            </a:pPr>
            <a:r>
              <a:rPr lang="en-US" sz="1250" dirty="0">
                <a:solidFill>
                  <a:srgbClr val="EAF1FB"/>
                </a:solidFill>
                <a:latin typeface="Calibri" pitchFamily="34" charset="0"/>
                <a:ea typeface="Calibri" pitchFamily="34" charset="-122"/>
                <a:cs typeface="Calibri" pitchFamily="34" charset="-120"/>
              </a:rPr>
              <a:t>Inventory stays in sync across stores in real time</a:t>
            </a:r>
            <a:endParaRPr lang="en-US" sz="1250" dirty="0"/>
          </a:p>
        </p:txBody>
      </p:sp>
      <p:sp>
        <p:nvSpPr>
          <p:cNvPr id="45" name="Text 28"/>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46" name="Text 29"/>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Conceptual Cloud Architecture</a:t>
            </a:r>
            <a:endParaRPr lang="en-US" sz="3000" dirty="0"/>
          </a:p>
        </p:txBody>
      </p:sp>
      <p:pic>
        <p:nvPicPr>
          <p:cNvPr id="4" name="Image 0" descr="assets/architecture.png"/>
          <p:cNvPicPr>
            <a:picLocks noChangeAspect="1"/>
          </p:cNvPicPr>
          <p:nvPr/>
        </p:nvPicPr>
        <p:blipFill>
          <a:blip r:embed="rId1"/>
          <a:srcRect l="0" r="0" t="0" b="0"/>
          <a:stretch/>
        </p:blipFill>
        <p:spPr>
          <a:xfrm>
            <a:off x="960120" y="1508760"/>
            <a:ext cx="10241280" cy="4526280"/>
          </a:xfrm>
          <a:prstGeom prst="rect">
            <a:avLst/>
          </a:prstGeom>
        </p:spPr>
      </p:pic>
      <p:sp>
        <p:nvSpPr>
          <p:cNvPr id="5" name="Text 2"/>
          <p:cNvSpPr/>
          <p:nvPr/>
        </p:nvSpPr>
        <p:spPr>
          <a:xfrm>
            <a:off x="548640" y="6126480"/>
            <a:ext cx="11064240" cy="457200"/>
          </a:xfrm>
          <a:prstGeom prst="rect">
            <a:avLst/>
          </a:prstGeom>
          <a:noFill/>
          <a:ln/>
        </p:spPr>
        <p:txBody>
          <a:bodyPr wrap="square" lIns="0" tIns="0" rIns="0" bIns="0" rtlCol="0" anchor="ctr"/>
          <a:lstStyle/>
          <a:p>
            <a:pPr indent="0" marL="0">
              <a:buNone/>
            </a:pPr>
            <a:r>
              <a:rPr lang="en-US" sz="1150" i="1" dirty="0">
                <a:solidFill>
                  <a:srgbClr val="6B7A99"/>
                </a:solidFill>
                <a:latin typeface="Calibri" pitchFamily="34" charset="0"/>
                <a:ea typeface="Calibri" pitchFamily="34" charset="-122"/>
                <a:cs typeface="Calibri" pitchFamily="34" charset="-120"/>
              </a:rPr>
              <a:t>Store-level POS terminals connect securely into a hybrid cloud environment. General business services (IaaS/PaaS/SaaS) sit apart from a tightly controlled payment-processing segment.</a:t>
            </a:r>
            <a:endParaRPr lang="en-US" sz="1150" dirty="0"/>
          </a:p>
        </p:txBody>
      </p:sp>
      <p:sp>
        <p:nvSpPr>
          <p:cNvPr id="6" name="Text 3"/>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7" name="Text 4"/>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Who Uses the System, and How</a:t>
            </a:r>
            <a:endParaRPr lang="en-US" sz="3000" dirty="0"/>
          </a:p>
        </p:txBody>
      </p:sp>
      <p:pic>
        <p:nvPicPr>
          <p:cNvPr id="4" name="Image 0" descr="assets/usecase.png"/>
          <p:cNvPicPr>
            <a:picLocks noChangeAspect="1"/>
          </p:cNvPicPr>
          <p:nvPr/>
        </p:nvPicPr>
        <p:blipFill>
          <a:blip r:embed="rId1"/>
          <a:srcRect l="0" r="0" t="0" b="0"/>
          <a:stretch/>
        </p:blipFill>
        <p:spPr>
          <a:xfrm>
            <a:off x="457200" y="1508760"/>
            <a:ext cx="6035040" cy="4526280"/>
          </a:xfrm>
          <a:prstGeom prst="rect">
            <a:avLst/>
          </a:prstGeom>
        </p:spPr>
      </p:pic>
      <p:sp>
        <p:nvSpPr>
          <p:cNvPr id="5" name="Shape 2"/>
          <p:cNvSpPr/>
          <p:nvPr/>
        </p:nvSpPr>
        <p:spPr>
          <a:xfrm>
            <a:off x="6766560" y="1600200"/>
            <a:ext cx="4846320" cy="987552"/>
          </a:xfrm>
          <a:prstGeom prst="roundRect">
            <a:avLst>
              <a:gd name="adj" fmla="val 7407"/>
            </a:avLst>
          </a:prstGeom>
          <a:solidFill>
            <a:srgbClr val="F4F7FC"/>
          </a:solidFill>
          <a:ln w="12700">
            <a:solidFill>
              <a:srgbClr val="DDE5F0"/>
            </a:solidFill>
            <a:prstDash val="solid"/>
          </a:ln>
        </p:spPr>
      </p:sp>
      <p:sp>
        <p:nvSpPr>
          <p:cNvPr id="6" name="Text 3"/>
          <p:cNvSpPr/>
          <p:nvPr/>
        </p:nvSpPr>
        <p:spPr>
          <a:xfrm>
            <a:off x="6995160" y="1709928"/>
            <a:ext cx="43891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Cashier</a:t>
            </a:r>
            <a:endParaRPr lang="en-US" sz="1400" dirty="0"/>
          </a:p>
        </p:txBody>
      </p:sp>
      <p:sp>
        <p:nvSpPr>
          <p:cNvPr id="7" name="Text 4"/>
          <p:cNvSpPr/>
          <p:nvPr/>
        </p:nvSpPr>
        <p:spPr>
          <a:xfrm>
            <a:off x="6995160" y="2057400"/>
            <a:ext cx="4389120" cy="45720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Processes sales and updates stock in real time</a:t>
            </a:r>
            <a:endParaRPr lang="en-US" sz="1150" dirty="0"/>
          </a:p>
        </p:txBody>
      </p:sp>
      <p:sp>
        <p:nvSpPr>
          <p:cNvPr id="8" name="Shape 5"/>
          <p:cNvSpPr/>
          <p:nvPr/>
        </p:nvSpPr>
        <p:spPr>
          <a:xfrm>
            <a:off x="6766560" y="2715768"/>
            <a:ext cx="4846320" cy="987552"/>
          </a:xfrm>
          <a:prstGeom prst="roundRect">
            <a:avLst>
              <a:gd name="adj" fmla="val 7407"/>
            </a:avLst>
          </a:prstGeom>
          <a:solidFill>
            <a:srgbClr val="FFFFFF"/>
          </a:solidFill>
          <a:ln w="12700">
            <a:solidFill>
              <a:srgbClr val="DDE5F0"/>
            </a:solidFill>
            <a:prstDash val="solid"/>
          </a:ln>
        </p:spPr>
      </p:sp>
      <p:sp>
        <p:nvSpPr>
          <p:cNvPr id="9" name="Text 6"/>
          <p:cNvSpPr/>
          <p:nvPr/>
        </p:nvSpPr>
        <p:spPr>
          <a:xfrm>
            <a:off x="6995160" y="2825496"/>
            <a:ext cx="43891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Store Manager</a:t>
            </a:r>
            <a:endParaRPr lang="en-US" sz="1400" dirty="0"/>
          </a:p>
        </p:txBody>
      </p:sp>
      <p:sp>
        <p:nvSpPr>
          <p:cNvPr id="10" name="Text 7"/>
          <p:cNvSpPr/>
          <p:nvPr/>
        </p:nvSpPr>
        <p:spPr>
          <a:xfrm>
            <a:off x="6995160" y="3172968"/>
            <a:ext cx="4389120" cy="45720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Keeps an eye on store performance and manages staff access</a:t>
            </a:r>
            <a:endParaRPr lang="en-US" sz="1150" dirty="0"/>
          </a:p>
        </p:txBody>
      </p:sp>
      <p:sp>
        <p:nvSpPr>
          <p:cNvPr id="11" name="Shape 8"/>
          <p:cNvSpPr/>
          <p:nvPr/>
        </p:nvSpPr>
        <p:spPr>
          <a:xfrm>
            <a:off x="6766560" y="3831336"/>
            <a:ext cx="4846320" cy="987552"/>
          </a:xfrm>
          <a:prstGeom prst="roundRect">
            <a:avLst>
              <a:gd name="adj" fmla="val 7407"/>
            </a:avLst>
          </a:prstGeom>
          <a:solidFill>
            <a:srgbClr val="F4F7FC"/>
          </a:solidFill>
          <a:ln w="12700">
            <a:solidFill>
              <a:srgbClr val="DDE5F0"/>
            </a:solidFill>
            <a:prstDash val="solid"/>
          </a:ln>
        </p:spPr>
      </p:sp>
      <p:sp>
        <p:nvSpPr>
          <p:cNvPr id="12" name="Text 9"/>
          <p:cNvSpPr/>
          <p:nvPr/>
        </p:nvSpPr>
        <p:spPr>
          <a:xfrm>
            <a:off x="6995160" y="3941064"/>
            <a:ext cx="43891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Head Office Admin</a:t>
            </a:r>
            <a:endParaRPr lang="en-US" sz="1400" dirty="0"/>
          </a:p>
        </p:txBody>
      </p:sp>
      <p:sp>
        <p:nvSpPr>
          <p:cNvPr id="13" name="Text 10"/>
          <p:cNvSpPr/>
          <p:nvPr/>
        </p:nvSpPr>
        <p:spPr>
          <a:xfrm>
            <a:off x="6995160" y="4288536"/>
            <a:ext cx="4389120" cy="45720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Sees consolidated reporting across every store</a:t>
            </a:r>
            <a:endParaRPr lang="en-US" sz="1150" dirty="0"/>
          </a:p>
        </p:txBody>
      </p:sp>
      <p:sp>
        <p:nvSpPr>
          <p:cNvPr id="14" name="Shape 11"/>
          <p:cNvSpPr/>
          <p:nvPr/>
        </p:nvSpPr>
        <p:spPr>
          <a:xfrm>
            <a:off x="6766560" y="4946904"/>
            <a:ext cx="4846320" cy="987552"/>
          </a:xfrm>
          <a:prstGeom prst="roundRect">
            <a:avLst>
              <a:gd name="adj" fmla="val 7407"/>
            </a:avLst>
          </a:prstGeom>
          <a:solidFill>
            <a:srgbClr val="FFFFFF"/>
          </a:solidFill>
          <a:ln w="12700">
            <a:solidFill>
              <a:srgbClr val="DDE5F0"/>
            </a:solidFill>
            <a:prstDash val="solid"/>
          </a:ln>
        </p:spPr>
      </p:sp>
      <p:sp>
        <p:nvSpPr>
          <p:cNvPr id="15" name="Text 12"/>
          <p:cNvSpPr/>
          <p:nvPr/>
        </p:nvSpPr>
        <p:spPr>
          <a:xfrm>
            <a:off x="6995160" y="5056632"/>
            <a:ext cx="43891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Cloud Administrator</a:t>
            </a:r>
            <a:endParaRPr lang="en-US" sz="1400" dirty="0"/>
          </a:p>
        </p:txBody>
      </p:sp>
      <p:sp>
        <p:nvSpPr>
          <p:cNvPr id="16" name="Text 13"/>
          <p:cNvSpPr/>
          <p:nvPr/>
        </p:nvSpPr>
        <p:spPr>
          <a:xfrm>
            <a:off x="6995160" y="5404104"/>
            <a:ext cx="4389120" cy="45720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Configures cloud resources and monitors system health</a:t>
            </a:r>
            <a:endParaRPr lang="en-US" sz="1150" dirty="0"/>
          </a:p>
        </p:txBody>
      </p:sp>
      <p:sp>
        <p:nvSpPr>
          <p:cNvPr id="17" name="Text 14"/>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18" name="Text 15"/>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PROJECT EXECUTION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Run Through the Qollabb Platform</a:t>
            </a:r>
            <a:endParaRPr lang="en-US" sz="3000" dirty="0"/>
          </a:p>
        </p:txBody>
      </p:sp>
      <p:sp>
        <p:nvSpPr>
          <p:cNvPr id="4" name="Text 2"/>
          <p:cNvSpPr/>
          <p:nvPr/>
        </p:nvSpPr>
        <p:spPr>
          <a:xfrm>
            <a:off x="548640" y="1417320"/>
            <a:ext cx="5394960" cy="914400"/>
          </a:xfrm>
          <a:prstGeom prst="rect">
            <a:avLst/>
          </a:prstGeom>
          <a:noFill/>
          <a:ln/>
        </p:spPr>
        <p:txBody>
          <a:bodyPr wrap="square" lIns="0" tIns="0" rIns="0" bIns="0" rtlCol="0" anchor="ctr"/>
          <a:lstStyle/>
          <a:p>
            <a:pPr indent="0" marL="0">
              <a:lnSpc>
                <a:spcPct val="130000"/>
              </a:lnSpc>
              <a:buNone/>
            </a:pPr>
            <a:r>
              <a:rPr lang="en-US" sz="1350" dirty="0">
                <a:solidFill>
                  <a:srgbClr val="44546A"/>
                </a:solidFill>
                <a:latin typeface="Calibri" pitchFamily="34" charset="0"/>
                <a:ea typeface="Calibri" pitchFamily="34" charset="-122"/>
                <a:cs typeface="Calibri" pitchFamily="34" charset="-120"/>
              </a:rPr>
              <a:t>This project was enrolled, mentored, and tracked from start to finish on the Qollabb industry-project platform, with milestone tracking and mentor feedback along the way.</a:t>
            </a:r>
            <a:endParaRPr lang="en-US" sz="1350" dirty="0"/>
          </a:p>
        </p:txBody>
      </p:sp>
      <p:sp>
        <p:nvSpPr>
          <p:cNvPr id="5" name="Text 3"/>
          <p:cNvSpPr/>
          <p:nvPr/>
        </p:nvSpPr>
        <p:spPr>
          <a:xfrm>
            <a:off x="548640" y="2514600"/>
            <a:ext cx="1554480" cy="274320"/>
          </a:xfrm>
          <a:prstGeom prst="rect">
            <a:avLst/>
          </a:prstGeom>
          <a:noFill/>
          <a:ln/>
        </p:spPr>
        <p:txBody>
          <a:bodyPr wrap="square" lIns="0" tIns="0" rIns="0" bIns="0" rtlCol="0" anchor="ctr"/>
          <a:lstStyle/>
          <a:p>
            <a:pPr indent="0" marL="0">
              <a:buNone/>
            </a:pPr>
            <a:r>
              <a:rPr lang="en-US" sz="1050" b="1" spc="100" kern="0" dirty="0">
                <a:solidFill>
                  <a:srgbClr val="0E8C8C"/>
                </a:solidFill>
                <a:latin typeface="Calibri" pitchFamily="34" charset="0"/>
                <a:ea typeface="Calibri" pitchFamily="34" charset="-122"/>
                <a:cs typeface="Calibri" pitchFamily="34" charset="-120"/>
              </a:rPr>
              <a:t>PROJECT</a:t>
            </a:r>
            <a:endParaRPr lang="en-US" sz="1050" dirty="0"/>
          </a:p>
        </p:txBody>
      </p:sp>
      <p:sp>
        <p:nvSpPr>
          <p:cNvPr id="6" name="Text 4"/>
          <p:cNvSpPr/>
          <p:nvPr/>
        </p:nvSpPr>
        <p:spPr>
          <a:xfrm>
            <a:off x="2148840" y="2468880"/>
            <a:ext cx="3840480" cy="502920"/>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Implementation of Cloud Computing in Business Operations</a:t>
            </a:r>
            <a:endParaRPr lang="en-US" sz="1250" dirty="0"/>
          </a:p>
        </p:txBody>
      </p:sp>
      <p:sp>
        <p:nvSpPr>
          <p:cNvPr id="7" name="Text 5"/>
          <p:cNvSpPr/>
          <p:nvPr/>
        </p:nvSpPr>
        <p:spPr>
          <a:xfrm>
            <a:off x="548640" y="3118104"/>
            <a:ext cx="1554480" cy="274320"/>
          </a:xfrm>
          <a:prstGeom prst="rect">
            <a:avLst/>
          </a:prstGeom>
          <a:noFill/>
          <a:ln/>
        </p:spPr>
        <p:txBody>
          <a:bodyPr wrap="square" lIns="0" tIns="0" rIns="0" bIns="0" rtlCol="0" anchor="ctr"/>
          <a:lstStyle/>
          <a:p>
            <a:pPr indent="0" marL="0">
              <a:buNone/>
            </a:pPr>
            <a:r>
              <a:rPr lang="en-US" sz="1050" b="1" spc="100" kern="0" dirty="0">
                <a:solidFill>
                  <a:srgbClr val="0E8C8C"/>
                </a:solidFill>
                <a:latin typeface="Calibri" pitchFamily="34" charset="0"/>
                <a:ea typeface="Calibri" pitchFamily="34" charset="-122"/>
                <a:cs typeface="Calibri" pitchFamily="34" charset="-120"/>
              </a:rPr>
              <a:t>MENTOR</a:t>
            </a:r>
            <a:endParaRPr lang="en-US" sz="1050" dirty="0"/>
          </a:p>
        </p:txBody>
      </p:sp>
      <p:sp>
        <p:nvSpPr>
          <p:cNvPr id="8" name="Text 6"/>
          <p:cNvSpPr/>
          <p:nvPr/>
        </p:nvSpPr>
        <p:spPr>
          <a:xfrm>
            <a:off x="2148840" y="3072384"/>
            <a:ext cx="3840480" cy="502920"/>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Ms. Vasanthi Chandran</a:t>
            </a:r>
            <a:endParaRPr lang="en-US" sz="1250" dirty="0"/>
          </a:p>
        </p:txBody>
      </p:sp>
      <p:sp>
        <p:nvSpPr>
          <p:cNvPr id="9" name="Text 7"/>
          <p:cNvSpPr/>
          <p:nvPr/>
        </p:nvSpPr>
        <p:spPr>
          <a:xfrm>
            <a:off x="548640" y="3721608"/>
            <a:ext cx="1554480" cy="274320"/>
          </a:xfrm>
          <a:prstGeom prst="rect">
            <a:avLst/>
          </a:prstGeom>
          <a:noFill/>
          <a:ln/>
        </p:spPr>
        <p:txBody>
          <a:bodyPr wrap="square" lIns="0" tIns="0" rIns="0" bIns="0" rtlCol="0" anchor="ctr"/>
          <a:lstStyle/>
          <a:p>
            <a:pPr indent="0" marL="0">
              <a:buNone/>
            </a:pPr>
            <a:r>
              <a:rPr lang="en-US" sz="1050" b="1" spc="100" kern="0" dirty="0">
                <a:solidFill>
                  <a:srgbClr val="0E8C8C"/>
                </a:solidFill>
                <a:latin typeface="Calibri" pitchFamily="34" charset="0"/>
                <a:ea typeface="Calibri" pitchFamily="34" charset="-122"/>
                <a:cs typeface="Calibri" pitchFamily="34" charset="-120"/>
              </a:rPr>
              <a:t>ENROLLED</a:t>
            </a:r>
            <a:endParaRPr lang="en-US" sz="1050" dirty="0"/>
          </a:p>
        </p:txBody>
      </p:sp>
      <p:sp>
        <p:nvSpPr>
          <p:cNvPr id="10" name="Text 8"/>
          <p:cNvSpPr/>
          <p:nvPr/>
        </p:nvSpPr>
        <p:spPr>
          <a:xfrm>
            <a:off x="2148840" y="3675888"/>
            <a:ext cx="3840480" cy="502920"/>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31/03/2026</a:t>
            </a:r>
            <a:endParaRPr lang="en-US" sz="1250" dirty="0"/>
          </a:p>
        </p:txBody>
      </p:sp>
      <p:sp>
        <p:nvSpPr>
          <p:cNvPr id="11" name="Text 9"/>
          <p:cNvSpPr/>
          <p:nvPr/>
        </p:nvSpPr>
        <p:spPr>
          <a:xfrm>
            <a:off x="548640" y="4325112"/>
            <a:ext cx="1554480" cy="274320"/>
          </a:xfrm>
          <a:prstGeom prst="rect">
            <a:avLst/>
          </a:prstGeom>
          <a:noFill/>
          <a:ln/>
        </p:spPr>
        <p:txBody>
          <a:bodyPr wrap="square" lIns="0" tIns="0" rIns="0" bIns="0" rtlCol="0" anchor="ctr"/>
          <a:lstStyle/>
          <a:p>
            <a:pPr indent="0" marL="0">
              <a:buNone/>
            </a:pPr>
            <a:r>
              <a:rPr lang="en-US" sz="1050" b="1" spc="100" kern="0" dirty="0">
                <a:solidFill>
                  <a:srgbClr val="0E8C8C"/>
                </a:solidFill>
                <a:latin typeface="Calibri" pitchFamily="34" charset="0"/>
                <a:ea typeface="Calibri" pitchFamily="34" charset="-122"/>
                <a:cs typeface="Calibri" pitchFamily="34" charset="-120"/>
              </a:rPr>
              <a:t>MILESTONES</a:t>
            </a:r>
            <a:endParaRPr lang="en-US" sz="1050" dirty="0"/>
          </a:p>
        </p:txBody>
      </p:sp>
      <p:sp>
        <p:nvSpPr>
          <p:cNvPr id="12" name="Text 10"/>
          <p:cNvSpPr/>
          <p:nvPr/>
        </p:nvSpPr>
        <p:spPr>
          <a:xfrm>
            <a:off x="2148840" y="4279392"/>
            <a:ext cx="3840480" cy="502920"/>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6 — Literature Review → Final Report</a:t>
            </a:r>
            <a:endParaRPr lang="en-US" sz="1250" dirty="0"/>
          </a:p>
        </p:txBody>
      </p:sp>
      <p:sp>
        <p:nvSpPr>
          <p:cNvPr id="13" name="Shape 11"/>
          <p:cNvSpPr/>
          <p:nvPr/>
        </p:nvSpPr>
        <p:spPr>
          <a:xfrm>
            <a:off x="6263640" y="1417320"/>
            <a:ext cx="5349240" cy="4709160"/>
          </a:xfrm>
          <a:prstGeom prst="roundRect">
            <a:avLst>
              <a:gd name="adj" fmla="val 1553"/>
            </a:avLst>
          </a:prstGeom>
          <a:solidFill>
            <a:srgbClr val="FFFFFF"/>
          </a:solidFill>
          <a:ln w="19050">
            <a:solidFill>
              <a:srgbClr val="DDE5F0"/>
            </a:solidFill>
            <a:prstDash val="solid"/>
          </a:ln>
          <a:effectLst>
            <a:outerShdw sx="100000" sy="100000" kx="0" ky="0" algn="bl" rotWithShape="0" blurRad="1612900000" dist="483870000" dir="324000000000">
              <a:srgbClr val="1E2761">
                <a:alpha val="1200000000"/>
              </a:srgbClr>
            </a:outerShdw>
          </a:effectLst>
        </p:spPr>
      </p:sp>
      <p:pic>
        <p:nvPicPr>
          <p:cNvPr id="14" name="Image 0" descr="assets/qollabb_overview.png"/>
          <p:cNvPicPr>
            <a:picLocks noChangeAspect="1"/>
          </p:cNvPicPr>
          <p:nvPr/>
        </p:nvPicPr>
        <p:blipFill>
          <a:blip r:embed="rId1"/>
          <a:srcRect l="0" r="0" t="0" b="0"/>
          <a:stretch/>
        </p:blipFill>
        <p:spPr>
          <a:xfrm>
            <a:off x="6400800" y="1554480"/>
            <a:ext cx="5074920" cy="4434840"/>
          </a:xfrm>
          <a:prstGeom prst="rect">
            <a:avLst/>
          </a:prstGeom>
        </p:spPr>
      </p:pic>
      <p:sp>
        <p:nvSpPr>
          <p:cNvPr id="15" name="Text 12"/>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16" name="Text 13"/>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the Interviews Turned Up</a:t>
            </a:r>
            <a:endParaRPr lang="en-US" sz="3000" dirty="0"/>
          </a:p>
        </p:txBody>
      </p:sp>
      <p:sp>
        <p:nvSpPr>
          <p:cNvPr id="4" name="Shape 2"/>
          <p:cNvSpPr/>
          <p:nvPr/>
        </p:nvSpPr>
        <p:spPr>
          <a:xfrm>
            <a:off x="548640" y="1691640"/>
            <a:ext cx="11064240" cy="1234440"/>
          </a:xfrm>
          <a:prstGeom prst="roundRect">
            <a:avLst>
              <a:gd name="adj" fmla="val 5926"/>
            </a:avLst>
          </a:prstGeom>
          <a:solidFill>
            <a:srgbClr val="F4F7FC"/>
          </a:solidFill>
          <a:ln w="12700">
            <a:solidFill>
              <a:srgbClr val="DDE5F0"/>
            </a:solidFill>
            <a:prstDash val="solid"/>
          </a:ln>
        </p:spPr>
      </p:sp>
      <p:sp>
        <p:nvSpPr>
          <p:cNvPr id="5" name="Shape 3"/>
          <p:cNvSpPr/>
          <p:nvPr/>
        </p:nvSpPr>
        <p:spPr>
          <a:xfrm>
            <a:off x="777240" y="2020824"/>
            <a:ext cx="566928" cy="566928"/>
          </a:xfrm>
          <a:prstGeom prst="ellipse">
            <a:avLst/>
          </a:prstGeom>
          <a:solidFill>
            <a:srgbClr val="0E8C8C"/>
          </a:solidFill>
          <a:ln/>
        </p:spPr>
      </p:sp>
      <p:sp>
        <p:nvSpPr>
          <p:cNvPr id="6" name="Text 4"/>
          <p:cNvSpPr/>
          <p:nvPr/>
        </p:nvSpPr>
        <p:spPr>
          <a:xfrm>
            <a:off x="777240" y="202082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00200" y="1856232"/>
            <a:ext cx="4160520" cy="86868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Calibri" pitchFamily="34" charset="0"/>
                <a:ea typeface="Calibri" pitchFamily="34" charset="-122"/>
                <a:cs typeface="Calibri" pitchFamily="34" charset="-120"/>
              </a:rPr>
              <a:t>IT Support Specialist, Retail (5+ yrs)</a:t>
            </a:r>
            <a:endParaRPr lang="en-US" sz="1350" dirty="0"/>
          </a:p>
        </p:txBody>
      </p:sp>
      <p:sp>
        <p:nvSpPr>
          <p:cNvPr id="8" name="Shape 6"/>
          <p:cNvSpPr/>
          <p:nvPr/>
        </p:nvSpPr>
        <p:spPr>
          <a:xfrm>
            <a:off x="5989320" y="1874520"/>
            <a:ext cx="0" cy="868680"/>
          </a:xfrm>
          <a:prstGeom prst="line">
            <a:avLst/>
          </a:prstGeom>
          <a:noFill/>
          <a:ln w="12700">
            <a:solidFill>
              <a:srgbClr val="C9D4E5"/>
            </a:solidFill>
            <a:prstDash val="solid"/>
          </a:ln>
        </p:spPr>
      </p:sp>
      <p:sp>
        <p:nvSpPr>
          <p:cNvPr id="9" name="Text 7"/>
          <p:cNvSpPr/>
          <p:nvPr/>
        </p:nvSpPr>
        <p:spPr>
          <a:xfrm>
            <a:off x="6263640" y="1856232"/>
            <a:ext cx="5166360" cy="868680"/>
          </a:xfrm>
          <a:prstGeom prst="rect">
            <a:avLst/>
          </a:prstGeom>
          <a:noFill/>
          <a:ln/>
        </p:spPr>
        <p:txBody>
          <a:bodyPr wrap="square" lIns="0" tIns="0" rIns="0" bIns="0" rtlCol="0" anchor="ctr"/>
          <a:lstStyle/>
          <a:p>
            <a:pPr indent="0" marL="0">
              <a:lnSpc>
                <a:spcPct val="120000"/>
              </a:lnSpc>
              <a:buNone/>
            </a:pPr>
            <a:r>
              <a:rPr lang="en-US" sz="1250" i="1" dirty="0">
                <a:solidFill>
                  <a:srgbClr val="44546A"/>
                </a:solidFill>
                <a:latin typeface="Calibri" pitchFamily="34" charset="0"/>
                <a:ea typeface="Calibri" pitchFamily="34" charset="-122"/>
                <a:cs typeface="Calibri" pitchFamily="34" charset="-120"/>
              </a:rPr>
              <a:t>Cloud-hosted POS noticeably cut downtime during peak sales, but staff needed proper retraining to adjust.</a:t>
            </a:r>
            <a:endParaRPr lang="en-US" sz="1250" dirty="0"/>
          </a:p>
        </p:txBody>
      </p:sp>
      <p:sp>
        <p:nvSpPr>
          <p:cNvPr id="10" name="Shape 8"/>
          <p:cNvSpPr/>
          <p:nvPr/>
        </p:nvSpPr>
        <p:spPr>
          <a:xfrm>
            <a:off x="548640" y="3108960"/>
            <a:ext cx="11064240" cy="1234440"/>
          </a:xfrm>
          <a:prstGeom prst="roundRect">
            <a:avLst>
              <a:gd name="adj" fmla="val 5926"/>
            </a:avLst>
          </a:prstGeom>
          <a:solidFill>
            <a:srgbClr val="FFFFFF"/>
          </a:solidFill>
          <a:ln w="12700">
            <a:solidFill>
              <a:srgbClr val="DDE5F0"/>
            </a:solidFill>
            <a:prstDash val="solid"/>
          </a:ln>
        </p:spPr>
      </p:sp>
      <p:sp>
        <p:nvSpPr>
          <p:cNvPr id="11" name="Shape 9"/>
          <p:cNvSpPr/>
          <p:nvPr/>
        </p:nvSpPr>
        <p:spPr>
          <a:xfrm>
            <a:off x="777240" y="3438144"/>
            <a:ext cx="566928" cy="566928"/>
          </a:xfrm>
          <a:prstGeom prst="ellipse">
            <a:avLst/>
          </a:prstGeom>
          <a:solidFill>
            <a:srgbClr val="0E8C8C"/>
          </a:solidFill>
          <a:ln/>
        </p:spPr>
      </p:sp>
      <p:sp>
        <p:nvSpPr>
          <p:cNvPr id="12" name="Text 10"/>
          <p:cNvSpPr/>
          <p:nvPr/>
        </p:nvSpPr>
        <p:spPr>
          <a:xfrm>
            <a:off x="777240" y="34381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600200" y="3273552"/>
            <a:ext cx="4160520" cy="86868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Calibri" pitchFamily="34" charset="0"/>
                <a:ea typeface="Calibri" pitchFamily="34" charset="-122"/>
                <a:cs typeface="Calibri" pitchFamily="34" charset="-120"/>
              </a:rPr>
              <a:t>Systems Administrator, Enterprise IT (7+ yrs)</a:t>
            </a:r>
            <a:endParaRPr lang="en-US" sz="1350" dirty="0"/>
          </a:p>
        </p:txBody>
      </p:sp>
      <p:sp>
        <p:nvSpPr>
          <p:cNvPr id="14" name="Shape 12"/>
          <p:cNvSpPr/>
          <p:nvPr/>
        </p:nvSpPr>
        <p:spPr>
          <a:xfrm>
            <a:off x="5989320" y="3291840"/>
            <a:ext cx="0" cy="868680"/>
          </a:xfrm>
          <a:prstGeom prst="line">
            <a:avLst/>
          </a:prstGeom>
          <a:noFill/>
          <a:ln w="12700">
            <a:solidFill>
              <a:srgbClr val="C9D4E5"/>
            </a:solidFill>
            <a:prstDash val="solid"/>
          </a:ln>
        </p:spPr>
      </p:sp>
      <p:sp>
        <p:nvSpPr>
          <p:cNvPr id="15" name="Text 13"/>
          <p:cNvSpPr/>
          <p:nvPr/>
        </p:nvSpPr>
        <p:spPr>
          <a:xfrm>
            <a:off x="6263640" y="3273552"/>
            <a:ext cx="5166360" cy="868680"/>
          </a:xfrm>
          <a:prstGeom prst="rect">
            <a:avLst/>
          </a:prstGeom>
          <a:noFill/>
          <a:ln/>
        </p:spPr>
        <p:txBody>
          <a:bodyPr wrap="square" lIns="0" tIns="0" rIns="0" bIns="0" rtlCol="0" anchor="ctr"/>
          <a:lstStyle/>
          <a:p>
            <a:pPr indent="0" marL="0">
              <a:lnSpc>
                <a:spcPct val="120000"/>
              </a:lnSpc>
              <a:buNone/>
            </a:pPr>
            <a:r>
              <a:rPr lang="en-US" sz="1250" i="1" dirty="0">
                <a:solidFill>
                  <a:srgbClr val="44546A"/>
                </a:solidFill>
                <a:latin typeface="Calibri" pitchFamily="34" charset="0"/>
                <a:ea typeface="Calibri" pitchFamily="34" charset="-122"/>
                <a:cs typeface="Calibri" pitchFamily="34" charset="-120"/>
              </a:rPr>
              <a:t>Migration was phased over 18 months; security and IAM planning ended up taking longer than budgeted.</a:t>
            </a:r>
            <a:endParaRPr lang="en-US" sz="1250" dirty="0"/>
          </a:p>
        </p:txBody>
      </p:sp>
      <p:sp>
        <p:nvSpPr>
          <p:cNvPr id="16" name="Shape 14"/>
          <p:cNvSpPr/>
          <p:nvPr/>
        </p:nvSpPr>
        <p:spPr>
          <a:xfrm>
            <a:off x="548640" y="4526280"/>
            <a:ext cx="11064240" cy="1234440"/>
          </a:xfrm>
          <a:prstGeom prst="roundRect">
            <a:avLst>
              <a:gd name="adj" fmla="val 5926"/>
            </a:avLst>
          </a:prstGeom>
          <a:solidFill>
            <a:srgbClr val="F4F7FC"/>
          </a:solidFill>
          <a:ln w="12700">
            <a:solidFill>
              <a:srgbClr val="DDE5F0"/>
            </a:solidFill>
            <a:prstDash val="solid"/>
          </a:ln>
        </p:spPr>
      </p:sp>
      <p:sp>
        <p:nvSpPr>
          <p:cNvPr id="17" name="Shape 15"/>
          <p:cNvSpPr/>
          <p:nvPr/>
        </p:nvSpPr>
        <p:spPr>
          <a:xfrm>
            <a:off x="777240" y="4855464"/>
            <a:ext cx="566928" cy="566928"/>
          </a:xfrm>
          <a:prstGeom prst="ellipse">
            <a:avLst/>
          </a:prstGeom>
          <a:solidFill>
            <a:srgbClr val="0E8C8C"/>
          </a:solidFill>
          <a:ln/>
        </p:spPr>
      </p:sp>
      <p:sp>
        <p:nvSpPr>
          <p:cNvPr id="18" name="Text 16"/>
          <p:cNvSpPr/>
          <p:nvPr/>
        </p:nvSpPr>
        <p:spPr>
          <a:xfrm>
            <a:off x="777240" y="48554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1600200" y="4690872"/>
            <a:ext cx="4160520" cy="868680"/>
          </a:xfrm>
          <a:prstGeom prst="rect">
            <a:avLst/>
          </a:prstGeom>
          <a:noFill/>
          <a:ln/>
        </p:spPr>
        <p:txBody>
          <a:bodyPr wrap="square" lIns="0" tIns="0" rIns="0" bIns="0" rtlCol="0" anchor="ctr"/>
          <a:lstStyle/>
          <a:p>
            <a:pPr indent="0" marL="0">
              <a:lnSpc>
                <a:spcPct val="115000"/>
              </a:lnSpc>
              <a:buNone/>
            </a:pPr>
            <a:r>
              <a:rPr lang="en-US" sz="1350" b="1" dirty="0">
                <a:solidFill>
                  <a:srgbClr val="1E2761"/>
                </a:solidFill>
                <a:latin typeface="Calibri" pitchFamily="34" charset="0"/>
                <a:ea typeface="Calibri" pitchFamily="34" charset="-122"/>
                <a:cs typeface="Calibri" pitchFamily="34" charset="-120"/>
              </a:rPr>
              <a:t>Cloud Support Engineer (4+ yrs)</a:t>
            </a:r>
            <a:endParaRPr lang="en-US" sz="1350" dirty="0"/>
          </a:p>
        </p:txBody>
      </p:sp>
      <p:sp>
        <p:nvSpPr>
          <p:cNvPr id="20" name="Shape 18"/>
          <p:cNvSpPr/>
          <p:nvPr/>
        </p:nvSpPr>
        <p:spPr>
          <a:xfrm>
            <a:off x="5989320" y="4709160"/>
            <a:ext cx="0" cy="868680"/>
          </a:xfrm>
          <a:prstGeom prst="line">
            <a:avLst/>
          </a:prstGeom>
          <a:noFill/>
          <a:ln w="12700">
            <a:solidFill>
              <a:srgbClr val="C9D4E5"/>
            </a:solidFill>
            <a:prstDash val="solid"/>
          </a:ln>
        </p:spPr>
      </p:sp>
      <p:sp>
        <p:nvSpPr>
          <p:cNvPr id="21" name="Text 19"/>
          <p:cNvSpPr/>
          <p:nvPr/>
        </p:nvSpPr>
        <p:spPr>
          <a:xfrm>
            <a:off x="6263640" y="4690872"/>
            <a:ext cx="5166360" cy="868680"/>
          </a:xfrm>
          <a:prstGeom prst="rect">
            <a:avLst/>
          </a:prstGeom>
          <a:noFill/>
          <a:ln/>
        </p:spPr>
        <p:txBody>
          <a:bodyPr wrap="square" lIns="0" tIns="0" rIns="0" bIns="0" rtlCol="0" anchor="ctr"/>
          <a:lstStyle/>
          <a:p>
            <a:pPr indent="0" marL="0">
              <a:lnSpc>
                <a:spcPct val="120000"/>
              </a:lnSpc>
              <a:buNone/>
            </a:pPr>
            <a:r>
              <a:rPr lang="en-US" sz="1250" i="1" dirty="0">
                <a:solidFill>
                  <a:srgbClr val="44546A"/>
                </a:solidFill>
                <a:latin typeface="Calibri" pitchFamily="34" charset="0"/>
                <a:ea typeface="Calibri" pitchFamily="34" charset="-122"/>
                <a:cs typeface="Calibri" pitchFamily="34" charset="-120"/>
              </a:rPr>
              <a:t>Cost overruns happened without centralized governance — tagging and budget alerts turned out to be essential.</a:t>
            </a:r>
            <a:endParaRPr lang="en-US" sz="1250" dirty="0"/>
          </a:p>
        </p:txBody>
      </p:sp>
      <p:sp>
        <p:nvSpPr>
          <p:cNvPr id="22" name="Text 20"/>
          <p:cNvSpPr/>
          <p:nvPr/>
        </p:nvSpPr>
        <p:spPr>
          <a:xfrm>
            <a:off x="548640" y="5989320"/>
            <a:ext cx="11064240" cy="365760"/>
          </a:xfrm>
          <a:prstGeom prst="rect">
            <a:avLst/>
          </a:prstGeom>
          <a:noFill/>
          <a:ln/>
        </p:spPr>
        <p:txBody>
          <a:bodyPr wrap="square" lIns="0" tIns="0" rIns="0" bIns="0" rtlCol="0" anchor="ctr"/>
          <a:lstStyle/>
          <a:p>
            <a:pPr indent="0" marL="0">
              <a:buNone/>
            </a:pPr>
            <a:r>
              <a:rPr lang="en-US" sz="1250" b="1" dirty="0">
                <a:solidFill>
                  <a:srgbClr val="0E8C8C"/>
                </a:solidFill>
                <a:latin typeface="Calibri" pitchFamily="34" charset="0"/>
                <a:ea typeface="Calibri" pitchFamily="34" charset="-122"/>
                <a:cs typeface="Calibri" pitchFamily="34" charset="-120"/>
              </a:rPr>
              <a:t>Across all three: the technical side was manageable — organizational readiness was the real hurdle.</a:t>
            </a:r>
            <a:endParaRPr lang="en-US" sz="1250" dirty="0"/>
          </a:p>
        </p:txBody>
      </p:sp>
      <p:sp>
        <p:nvSpPr>
          <p:cNvPr id="23" name="Text 21"/>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4" name="Text 22"/>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Patterns Seen in Retail</a:t>
            </a:r>
            <a:endParaRPr lang="en-US" sz="3000" dirty="0"/>
          </a:p>
        </p:txBody>
      </p:sp>
      <p:sp>
        <p:nvSpPr>
          <p:cNvPr id="4" name="Shape 2"/>
          <p:cNvSpPr/>
          <p:nvPr/>
        </p:nvSpPr>
        <p:spPr>
          <a:xfrm>
            <a:off x="548640" y="1554480"/>
            <a:ext cx="5349240" cy="4434840"/>
          </a:xfrm>
          <a:prstGeom prst="roundRect">
            <a:avLst>
              <a:gd name="adj" fmla="val 2062"/>
            </a:avLst>
          </a:prstGeom>
          <a:solidFill>
            <a:srgbClr val="1E2761"/>
          </a:solidFill>
          <a:ln/>
          <a:effectLst>
            <a:outerShdw sx="100000" sy="100000" kx="0" ky="0" algn="bl" rotWithShape="0" blurRad="1290320000" dist="483870000" dir="324000000000">
              <a:srgbClr val="1E2761">
                <a:alpha val="1500000000"/>
              </a:srgbClr>
            </a:outerShdw>
          </a:effectLst>
        </p:spPr>
      </p:sp>
      <p:pic>
        <p:nvPicPr>
          <p:cNvPr id="5" name="Image 0" descr="preencoded.png"/>
          <p:cNvPicPr>
            <a:picLocks noChangeAspect="1"/>
          </p:cNvPicPr>
          <p:nvPr/>
        </p:nvPicPr>
        <p:blipFill>
          <a:blip r:embed="rId1"/>
          <a:stretch>
            <a:fillRect/>
          </a:stretch>
        </p:blipFill>
        <p:spPr>
          <a:xfrm>
            <a:off x="868680" y="1828800"/>
            <a:ext cx="411480" cy="411480"/>
          </a:xfrm>
          <a:prstGeom prst="rect">
            <a:avLst/>
          </a:prstGeom>
        </p:spPr>
      </p:pic>
      <p:sp>
        <p:nvSpPr>
          <p:cNvPr id="6" name="Text 3"/>
          <p:cNvSpPr/>
          <p:nvPr/>
        </p:nvSpPr>
        <p:spPr>
          <a:xfrm>
            <a:off x="1417320" y="1892808"/>
            <a:ext cx="2743200" cy="274320"/>
          </a:xfrm>
          <a:prstGeom prst="rect">
            <a:avLst/>
          </a:prstGeom>
          <a:noFill/>
          <a:ln/>
        </p:spPr>
        <p:txBody>
          <a:bodyPr wrap="square" lIns="0" tIns="0" rIns="0" bIns="0" rtlCol="0" anchor="ctr"/>
          <a:lstStyle/>
          <a:p>
            <a:pPr indent="0" marL="0">
              <a:buNone/>
            </a:pPr>
            <a:r>
              <a:rPr lang="en-US" sz="1200" b="1" spc="150" kern="0" dirty="0">
                <a:solidFill>
                  <a:srgbClr val="5FC7C2"/>
                </a:solidFill>
                <a:latin typeface="Calibri" pitchFamily="34" charset="0"/>
                <a:ea typeface="Calibri" pitchFamily="34" charset="-122"/>
                <a:cs typeface="Calibri" pitchFamily="34" charset="-120"/>
              </a:rPr>
              <a:t>PATTERN A</a:t>
            </a:r>
            <a:endParaRPr lang="en-US" sz="1200" dirty="0"/>
          </a:p>
        </p:txBody>
      </p:sp>
      <p:sp>
        <p:nvSpPr>
          <p:cNvPr id="7" name="Text 4"/>
          <p:cNvSpPr/>
          <p:nvPr/>
        </p:nvSpPr>
        <p:spPr>
          <a:xfrm>
            <a:off x="868680" y="2286000"/>
            <a:ext cx="484632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Large Retail Chain</a:t>
            </a:r>
            <a:endParaRPr lang="en-US" sz="1800" dirty="0"/>
          </a:p>
        </p:txBody>
      </p:sp>
      <p:sp>
        <p:nvSpPr>
          <p:cNvPr id="8" name="Text 5"/>
          <p:cNvSpPr/>
          <p:nvPr/>
        </p:nvSpPr>
        <p:spPr>
          <a:xfrm>
            <a:off x="868680" y="2788920"/>
            <a:ext cx="4846320" cy="640080"/>
          </a:xfrm>
          <a:prstGeom prst="rect">
            <a:avLst/>
          </a:prstGeom>
          <a:noFill/>
          <a:ln/>
        </p:spPr>
        <p:txBody>
          <a:bodyPr wrap="square" lIns="0" tIns="0" rIns="0" bIns="0" rtlCol="0" anchor="ctr"/>
          <a:lstStyle/>
          <a:p>
            <a:pPr indent="0" marL="0">
              <a:lnSpc>
                <a:spcPct val="125000"/>
              </a:lnSpc>
              <a:buNone/>
            </a:pPr>
            <a:r>
              <a:rPr lang="en-US" sz="1200" i="1" dirty="0">
                <a:solidFill>
                  <a:srgbClr val="EAF1FB"/>
                </a:solidFill>
                <a:latin typeface="Calibri" pitchFamily="34" charset="0"/>
                <a:ea typeface="Calibri" pitchFamily="34" charset="-122"/>
                <a:cs typeface="Calibri" pitchFamily="34" charset="-120"/>
              </a:rPr>
              <a:t>POS and inventory moved to the cloud in phases, piloted at a few stores before the full rollout.</a:t>
            </a:r>
            <a:endParaRPr lang="en-US" sz="1200" dirty="0"/>
          </a:p>
        </p:txBody>
      </p:sp>
      <p:sp>
        <p:nvSpPr>
          <p:cNvPr id="9" name="Shape 6"/>
          <p:cNvSpPr/>
          <p:nvPr/>
        </p:nvSpPr>
        <p:spPr>
          <a:xfrm>
            <a:off x="868680" y="3520440"/>
            <a:ext cx="201168" cy="201168"/>
          </a:xfrm>
          <a:prstGeom prst="ellipse">
            <a:avLst/>
          </a:prstGeom>
          <a:solidFill>
            <a:srgbClr val="0E8C8C"/>
          </a:solidFill>
          <a:ln/>
        </p:spPr>
      </p:sp>
      <p:pic>
        <p:nvPicPr>
          <p:cNvPr id="10" name="Image 1" descr="preencoded.png"/>
          <p:cNvPicPr>
            <a:picLocks noChangeAspect="1"/>
          </p:cNvPicPr>
          <p:nvPr/>
        </p:nvPicPr>
        <p:blipFill>
          <a:blip r:embed="rId2"/>
          <a:stretch>
            <a:fillRect/>
          </a:stretch>
        </p:blipFill>
        <p:spPr>
          <a:xfrm>
            <a:off x="905256" y="3557016"/>
            <a:ext cx="128016" cy="128016"/>
          </a:xfrm>
          <a:prstGeom prst="rect">
            <a:avLst/>
          </a:prstGeom>
        </p:spPr>
      </p:pic>
      <p:sp>
        <p:nvSpPr>
          <p:cNvPr id="11" name="Text 7"/>
          <p:cNvSpPr/>
          <p:nvPr/>
        </p:nvSpPr>
        <p:spPr>
          <a:xfrm>
            <a:off x="1188720" y="3456432"/>
            <a:ext cx="4480560" cy="411480"/>
          </a:xfrm>
          <a:prstGeom prst="rect">
            <a:avLst/>
          </a:prstGeom>
          <a:noFill/>
          <a:ln/>
        </p:spPr>
        <p:txBody>
          <a:bodyPr wrap="square" lIns="0" tIns="0" rIns="0" bIns="0" rtlCol="0" anchor="ctr"/>
          <a:lstStyle/>
          <a:p>
            <a:pPr indent="0" marL="0">
              <a:lnSpc>
                <a:spcPct val="115000"/>
              </a:lnSpc>
              <a:buNone/>
            </a:pPr>
            <a:r>
              <a:rPr lang="en-US" sz="1150" dirty="0">
                <a:solidFill>
                  <a:srgbClr val="EAF1FB"/>
                </a:solidFill>
                <a:latin typeface="Calibri" pitchFamily="34" charset="0"/>
                <a:ea typeface="Calibri" pitchFamily="34" charset="-122"/>
                <a:cs typeface="Calibri" pitchFamily="34" charset="-120"/>
              </a:rPr>
              <a:t>Better uptime during peak periods</a:t>
            </a:r>
            <a:endParaRPr lang="en-US" sz="1150" dirty="0"/>
          </a:p>
        </p:txBody>
      </p:sp>
      <p:sp>
        <p:nvSpPr>
          <p:cNvPr id="12" name="Shape 8"/>
          <p:cNvSpPr/>
          <p:nvPr/>
        </p:nvSpPr>
        <p:spPr>
          <a:xfrm>
            <a:off x="868680" y="4032504"/>
            <a:ext cx="201168" cy="201168"/>
          </a:xfrm>
          <a:prstGeom prst="ellipse">
            <a:avLst/>
          </a:prstGeom>
          <a:solidFill>
            <a:srgbClr val="0E8C8C"/>
          </a:solidFill>
          <a:ln/>
        </p:spPr>
      </p:sp>
      <p:pic>
        <p:nvPicPr>
          <p:cNvPr id="13" name="Image 2" descr="preencoded.png"/>
          <p:cNvPicPr>
            <a:picLocks noChangeAspect="1"/>
          </p:cNvPicPr>
          <p:nvPr/>
        </p:nvPicPr>
        <p:blipFill>
          <a:blip r:embed="rId3"/>
          <a:stretch>
            <a:fillRect/>
          </a:stretch>
        </p:blipFill>
        <p:spPr>
          <a:xfrm>
            <a:off x="905256" y="4069080"/>
            <a:ext cx="128016" cy="128016"/>
          </a:xfrm>
          <a:prstGeom prst="rect">
            <a:avLst/>
          </a:prstGeom>
        </p:spPr>
      </p:pic>
      <p:sp>
        <p:nvSpPr>
          <p:cNvPr id="14" name="Text 9"/>
          <p:cNvSpPr/>
          <p:nvPr/>
        </p:nvSpPr>
        <p:spPr>
          <a:xfrm>
            <a:off x="1188720" y="3968496"/>
            <a:ext cx="4480560" cy="411480"/>
          </a:xfrm>
          <a:prstGeom prst="rect">
            <a:avLst/>
          </a:prstGeom>
          <a:noFill/>
          <a:ln/>
        </p:spPr>
        <p:txBody>
          <a:bodyPr wrap="square" lIns="0" tIns="0" rIns="0" bIns="0" rtlCol="0" anchor="ctr"/>
          <a:lstStyle/>
          <a:p>
            <a:pPr indent="0" marL="0">
              <a:lnSpc>
                <a:spcPct val="115000"/>
              </a:lnSpc>
              <a:buNone/>
            </a:pPr>
            <a:r>
              <a:rPr lang="en-US" sz="1150" dirty="0">
                <a:solidFill>
                  <a:srgbClr val="EAF1FB"/>
                </a:solidFill>
                <a:latin typeface="Calibri" pitchFamily="34" charset="0"/>
                <a:ea typeface="Calibri" pitchFamily="34" charset="-122"/>
                <a:cs typeface="Calibri" pitchFamily="34" charset="-120"/>
              </a:rPr>
              <a:t>Software updates reach every store at once</a:t>
            </a:r>
            <a:endParaRPr lang="en-US" sz="1150" dirty="0"/>
          </a:p>
        </p:txBody>
      </p:sp>
      <p:sp>
        <p:nvSpPr>
          <p:cNvPr id="15" name="Shape 10"/>
          <p:cNvSpPr/>
          <p:nvPr/>
        </p:nvSpPr>
        <p:spPr>
          <a:xfrm>
            <a:off x="868680" y="4544568"/>
            <a:ext cx="201168" cy="201168"/>
          </a:xfrm>
          <a:prstGeom prst="ellipse">
            <a:avLst/>
          </a:prstGeom>
          <a:solidFill>
            <a:srgbClr val="0E8C8C"/>
          </a:solidFill>
          <a:ln/>
        </p:spPr>
      </p:sp>
      <p:pic>
        <p:nvPicPr>
          <p:cNvPr id="16" name="Image 3" descr="preencoded.png"/>
          <p:cNvPicPr>
            <a:picLocks noChangeAspect="1"/>
          </p:cNvPicPr>
          <p:nvPr/>
        </p:nvPicPr>
        <p:blipFill>
          <a:blip r:embed="rId4"/>
          <a:stretch>
            <a:fillRect/>
          </a:stretch>
        </p:blipFill>
        <p:spPr>
          <a:xfrm>
            <a:off x="905256" y="4581144"/>
            <a:ext cx="128016" cy="128016"/>
          </a:xfrm>
          <a:prstGeom prst="rect">
            <a:avLst/>
          </a:prstGeom>
        </p:spPr>
      </p:pic>
      <p:sp>
        <p:nvSpPr>
          <p:cNvPr id="17" name="Text 11"/>
          <p:cNvSpPr/>
          <p:nvPr/>
        </p:nvSpPr>
        <p:spPr>
          <a:xfrm>
            <a:off x="1188720" y="4480560"/>
            <a:ext cx="4480560" cy="411480"/>
          </a:xfrm>
          <a:prstGeom prst="rect">
            <a:avLst/>
          </a:prstGeom>
          <a:noFill/>
          <a:ln/>
        </p:spPr>
        <p:txBody>
          <a:bodyPr wrap="square" lIns="0" tIns="0" rIns="0" bIns="0" rtlCol="0" anchor="ctr"/>
          <a:lstStyle/>
          <a:p>
            <a:pPr indent="0" marL="0">
              <a:lnSpc>
                <a:spcPct val="115000"/>
              </a:lnSpc>
              <a:buNone/>
            </a:pPr>
            <a:r>
              <a:rPr lang="en-US" sz="1150" dirty="0">
                <a:solidFill>
                  <a:srgbClr val="EAF1FB"/>
                </a:solidFill>
                <a:latin typeface="Calibri" pitchFamily="34" charset="0"/>
                <a:ea typeface="Calibri" pitchFamily="34" charset="-122"/>
                <a:cs typeface="Calibri" pitchFamily="34" charset="-120"/>
              </a:rPr>
              <a:t>Fewer stockouts thanks to shared inventory visibility</a:t>
            </a:r>
            <a:endParaRPr lang="en-US" sz="1150" dirty="0"/>
          </a:p>
        </p:txBody>
      </p:sp>
      <p:sp>
        <p:nvSpPr>
          <p:cNvPr id="18" name="Shape 12"/>
          <p:cNvSpPr/>
          <p:nvPr/>
        </p:nvSpPr>
        <p:spPr>
          <a:xfrm>
            <a:off x="6172200" y="1554480"/>
            <a:ext cx="5440680" cy="4434840"/>
          </a:xfrm>
          <a:prstGeom prst="roundRect">
            <a:avLst>
              <a:gd name="adj" fmla="val 2062"/>
            </a:avLst>
          </a:prstGeom>
          <a:solidFill>
            <a:srgbClr val="F4F7FC"/>
          </a:solidFill>
          <a:ln/>
        </p:spPr>
      </p:sp>
      <p:pic>
        <p:nvPicPr>
          <p:cNvPr id="19" name="Image 4" descr="preencoded.png"/>
          <p:cNvPicPr>
            <a:picLocks noChangeAspect="1"/>
          </p:cNvPicPr>
          <p:nvPr/>
        </p:nvPicPr>
        <p:blipFill>
          <a:blip r:embed="rId5"/>
          <a:stretch>
            <a:fillRect/>
          </a:stretch>
        </p:blipFill>
        <p:spPr>
          <a:xfrm>
            <a:off x="6492240" y="1828800"/>
            <a:ext cx="411480" cy="411480"/>
          </a:xfrm>
          <a:prstGeom prst="rect">
            <a:avLst/>
          </a:prstGeom>
        </p:spPr>
      </p:pic>
      <p:sp>
        <p:nvSpPr>
          <p:cNvPr id="20" name="Text 13"/>
          <p:cNvSpPr/>
          <p:nvPr/>
        </p:nvSpPr>
        <p:spPr>
          <a:xfrm>
            <a:off x="7040880" y="1892808"/>
            <a:ext cx="2743200" cy="274320"/>
          </a:xfrm>
          <a:prstGeom prst="rect">
            <a:avLst/>
          </a:prstGeom>
          <a:noFill/>
          <a:ln/>
        </p:spPr>
        <p:txBody>
          <a:bodyPr wrap="square" lIns="0" tIns="0" rIns="0" bIns="0" rtlCol="0" anchor="ctr"/>
          <a:lstStyle/>
          <a:p>
            <a:pPr indent="0" marL="0">
              <a:buNone/>
            </a:pPr>
            <a:r>
              <a:rPr lang="en-US" sz="1200" b="1" spc="150" kern="0" dirty="0">
                <a:solidFill>
                  <a:srgbClr val="0E8C8C"/>
                </a:solidFill>
                <a:latin typeface="Calibri" pitchFamily="34" charset="0"/>
                <a:ea typeface="Calibri" pitchFamily="34" charset="-122"/>
                <a:cs typeface="Calibri" pitchFamily="34" charset="-120"/>
              </a:rPr>
              <a:t>PATTERN B</a:t>
            </a:r>
            <a:endParaRPr lang="en-US" sz="1200" dirty="0"/>
          </a:p>
        </p:txBody>
      </p:sp>
      <p:sp>
        <p:nvSpPr>
          <p:cNvPr id="21" name="Text 14"/>
          <p:cNvSpPr/>
          <p:nvPr/>
        </p:nvSpPr>
        <p:spPr>
          <a:xfrm>
            <a:off x="6492240" y="2286000"/>
            <a:ext cx="484632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Mid-Sized Retailer</a:t>
            </a:r>
            <a:endParaRPr lang="en-US" sz="1800" dirty="0"/>
          </a:p>
        </p:txBody>
      </p:sp>
      <p:sp>
        <p:nvSpPr>
          <p:cNvPr id="22" name="Text 15"/>
          <p:cNvSpPr/>
          <p:nvPr/>
        </p:nvSpPr>
        <p:spPr>
          <a:xfrm>
            <a:off x="6492240" y="2788920"/>
            <a:ext cx="4937760" cy="640080"/>
          </a:xfrm>
          <a:prstGeom prst="rect">
            <a:avLst/>
          </a:prstGeom>
          <a:noFill/>
          <a:ln/>
        </p:spPr>
        <p:txBody>
          <a:bodyPr wrap="square" lIns="0" tIns="0" rIns="0" bIns="0" rtlCol="0" anchor="ctr"/>
          <a:lstStyle/>
          <a:p>
            <a:pPr indent="0" marL="0">
              <a:lnSpc>
                <a:spcPct val="125000"/>
              </a:lnSpc>
              <a:buNone/>
            </a:pPr>
            <a:r>
              <a:rPr lang="en-US" sz="1200" i="1" dirty="0">
                <a:solidFill>
                  <a:srgbClr val="44546A"/>
                </a:solidFill>
                <a:latin typeface="Calibri" pitchFamily="34" charset="0"/>
                <a:ea typeface="Calibri" pitchFamily="34" charset="-122"/>
                <a:cs typeface="Calibri" pitchFamily="34" charset="-120"/>
              </a:rPr>
              <a:t>Went SaaS-first — accounting and POS software first, with CRM layered in later.</a:t>
            </a:r>
            <a:endParaRPr lang="en-US" sz="1200" dirty="0"/>
          </a:p>
        </p:txBody>
      </p:sp>
      <p:sp>
        <p:nvSpPr>
          <p:cNvPr id="23" name="Shape 16"/>
          <p:cNvSpPr/>
          <p:nvPr/>
        </p:nvSpPr>
        <p:spPr>
          <a:xfrm>
            <a:off x="6492240" y="3520440"/>
            <a:ext cx="201168" cy="201168"/>
          </a:xfrm>
          <a:prstGeom prst="ellipse">
            <a:avLst/>
          </a:prstGeom>
          <a:solidFill>
            <a:srgbClr val="D9A441"/>
          </a:solidFill>
          <a:ln/>
        </p:spPr>
      </p:sp>
      <p:pic>
        <p:nvPicPr>
          <p:cNvPr id="24" name="Image 5" descr="preencoded.png"/>
          <p:cNvPicPr>
            <a:picLocks noChangeAspect="1"/>
          </p:cNvPicPr>
          <p:nvPr/>
        </p:nvPicPr>
        <p:blipFill>
          <a:blip r:embed="rId6"/>
          <a:stretch>
            <a:fillRect/>
          </a:stretch>
        </p:blipFill>
        <p:spPr>
          <a:xfrm>
            <a:off x="6528816" y="3557016"/>
            <a:ext cx="128016" cy="128016"/>
          </a:xfrm>
          <a:prstGeom prst="rect">
            <a:avLst/>
          </a:prstGeom>
        </p:spPr>
      </p:pic>
      <p:sp>
        <p:nvSpPr>
          <p:cNvPr id="25" name="Text 17"/>
          <p:cNvSpPr/>
          <p:nvPr/>
        </p:nvSpPr>
        <p:spPr>
          <a:xfrm>
            <a:off x="6812280" y="3456432"/>
            <a:ext cx="4663440" cy="41148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An easier entry point, with no deep cloud expertise needed</a:t>
            </a:r>
            <a:endParaRPr lang="en-US" sz="1150" dirty="0"/>
          </a:p>
        </p:txBody>
      </p:sp>
      <p:sp>
        <p:nvSpPr>
          <p:cNvPr id="26" name="Shape 18"/>
          <p:cNvSpPr/>
          <p:nvPr/>
        </p:nvSpPr>
        <p:spPr>
          <a:xfrm>
            <a:off x="6492240" y="4032504"/>
            <a:ext cx="201168" cy="201168"/>
          </a:xfrm>
          <a:prstGeom prst="ellipse">
            <a:avLst/>
          </a:prstGeom>
          <a:solidFill>
            <a:srgbClr val="D9A441"/>
          </a:solidFill>
          <a:ln/>
        </p:spPr>
      </p:sp>
      <p:pic>
        <p:nvPicPr>
          <p:cNvPr id="27" name="Image 6" descr="preencoded.png"/>
          <p:cNvPicPr>
            <a:picLocks noChangeAspect="1"/>
          </p:cNvPicPr>
          <p:nvPr/>
        </p:nvPicPr>
        <p:blipFill>
          <a:blip r:embed="rId7"/>
          <a:stretch>
            <a:fillRect/>
          </a:stretch>
        </p:blipFill>
        <p:spPr>
          <a:xfrm>
            <a:off x="6528816" y="4069080"/>
            <a:ext cx="128016" cy="128016"/>
          </a:xfrm>
          <a:prstGeom prst="rect">
            <a:avLst/>
          </a:prstGeom>
        </p:spPr>
      </p:pic>
      <p:sp>
        <p:nvSpPr>
          <p:cNvPr id="28" name="Text 19"/>
          <p:cNvSpPr/>
          <p:nvPr/>
        </p:nvSpPr>
        <p:spPr>
          <a:xfrm>
            <a:off x="6812280" y="3968496"/>
            <a:ext cx="4663440" cy="41148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Gets cloud benefits without a major infrastructure investment</a:t>
            </a:r>
            <a:endParaRPr lang="en-US" sz="1150" dirty="0"/>
          </a:p>
        </p:txBody>
      </p:sp>
      <p:sp>
        <p:nvSpPr>
          <p:cNvPr id="29" name="Shape 20"/>
          <p:cNvSpPr/>
          <p:nvPr/>
        </p:nvSpPr>
        <p:spPr>
          <a:xfrm>
            <a:off x="6492240" y="4544568"/>
            <a:ext cx="201168" cy="201168"/>
          </a:xfrm>
          <a:prstGeom prst="ellipse">
            <a:avLst/>
          </a:prstGeom>
          <a:solidFill>
            <a:srgbClr val="D9A441"/>
          </a:solidFill>
          <a:ln/>
        </p:spPr>
      </p:sp>
      <p:pic>
        <p:nvPicPr>
          <p:cNvPr id="30" name="Image 7" descr="preencoded.png"/>
          <p:cNvPicPr>
            <a:picLocks noChangeAspect="1"/>
          </p:cNvPicPr>
          <p:nvPr/>
        </p:nvPicPr>
        <p:blipFill>
          <a:blip r:embed="rId8"/>
          <a:stretch>
            <a:fillRect/>
          </a:stretch>
        </p:blipFill>
        <p:spPr>
          <a:xfrm>
            <a:off x="6528816" y="4581144"/>
            <a:ext cx="128016" cy="128016"/>
          </a:xfrm>
          <a:prstGeom prst="rect">
            <a:avLst/>
          </a:prstGeom>
        </p:spPr>
      </p:pic>
      <p:sp>
        <p:nvSpPr>
          <p:cNvPr id="31" name="Text 21"/>
          <p:cNvSpPr/>
          <p:nvPr/>
        </p:nvSpPr>
        <p:spPr>
          <a:xfrm>
            <a:off x="6812280" y="4480560"/>
            <a:ext cx="4663440" cy="411480"/>
          </a:xfrm>
          <a:prstGeom prst="rect">
            <a:avLst/>
          </a:prstGeom>
          <a:noFill/>
          <a:ln/>
        </p:spPr>
        <p:txBody>
          <a:bodyPr wrap="square" lIns="0" tIns="0" rIns="0" bIns="0" rtlCol="0" anchor="ctr"/>
          <a:lstStyle/>
          <a:p>
            <a:pPr indent="0" marL="0">
              <a:lnSpc>
                <a:spcPct val="115000"/>
              </a:lnSpc>
              <a:buNone/>
            </a:pPr>
            <a:r>
              <a:rPr lang="en-US" sz="1150" dirty="0">
                <a:solidFill>
                  <a:srgbClr val="44546A"/>
                </a:solidFill>
                <a:latin typeface="Calibri" pitchFamily="34" charset="0"/>
                <a:ea typeface="Calibri" pitchFamily="34" charset="-122"/>
                <a:cs typeface="Calibri" pitchFamily="34" charset="-120"/>
              </a:rPr>
              <a:t>Adoption pace matched to the business's existing IT capacity</a:t>
            </a:r>
            <a:endParaRPr lang="en-US" sz="1150" dirty="0"/>
          </a:p>
        </p:txBody>
      </p:sp>
      <p:sp>
        <p:nvSpPr>
          <p:cNvPr id="32" name="Text 22"/>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33" name="Text 23"/>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COMPARATIVE ANALYSIS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Choosing a Cloud Provider for Retail</a:t>
            </a:r>
            <a:endParaRPr lang="en-US" sz="3000" dirty="0"/>
          </a:p>
        </p:txBody>
      </p:sp>
      <p:sp>
        <p:nvSpPr>
          <p:cNvPr id="4" name="Shape 2"/>
          <p:cNvSpPr/>
          <p:nvPr/>
        </p:nvSpPr>
        <p:spPr>
          <a:xfrm>
            <a:off x="548640" y="1691640"/>
            <a:ext cx="11064240" cy="566928"/>
          </a:xfrm>
          <a:prstGeom prst="rect">
            <a:avLst/>
          </a:prstGeom>
          <a:solidFill>
            <a:srgbClr val="1E2761"/>
          </a:solidFill>
          <a:ln/>
        </p:spPr>
      </p:sp>
      <p:sp>
        <p:nvSpPr>
          <p:cNvPr id="5" name="Text 3"/>
          <p:cNvSpPr/>
          <p:nvPr/>
        </p:nvSpPr>
        <p:spPr>
          <a:xfrm>
            <a:off x="548640" y="1691640"/>
            <a:ext cx="3017520" cy="566928"/>
          </a:xfrm>
          <a:prstGeom prst="rect">
            <a:avLst/>
          </a:prstGeom>
          <a:noFill/>
          <a:ln/>
        </p:spPr>
        <p:txBody>
          <a:bodyPr wrap="square" lIns="0" tIns="15240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Criterion</a:t>
            </a:r>
            <a:endParaRPr lang="en-US" sz="1350" dirty="0"/>
          </a:p>
        </p:txBody>
      </p:sp>
      <p:sp>
        <p:nvSpPr>
          <p:cNvPr id="6" name="Text 4"/>
          <p:cNvSpPr/>
          <p:nvPr/>
        </p:nvSpPr>
        <p:spPr>
          <a:xfrm>
            <a:off x="3566160" y="1691640"/>
            <a:ext cx="269748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AWS</a:t>
            </a:r>
            <a:endParaRPr lang="en-US" sz="1350" dirty="0"/>
          </a:p>
        </p:txBody>
      </p:sp>
      <p:sp>
        <p:nvSpPr>
          <p:cNvPr id="7" name="Text 5"/>
          <p:cNvSpPr/>
          <p:nvPr/>
        </p:nvSpPr>
        <p:spPr>
          <a:xfrm>
            <a:off x="6263640" y="1691640"/>
            <a:ext cx="274320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Microsoft Azure</a:t>
            </a:r>
            <a:endParaRPr lang="en-US" sz="1350" dirty="0"/>
          </a:p>
        </p:txBody>
      </p:sp>
      <p:sp>
        <p:nvSpPr>
          <p:cNvPr id="8" name="Text 6"/>
          <p:cNvSpPr/>
          <p:nvPr/>
        </p:nvSpPr>
        <p:spPr>
          <a:xfrm>
            <a:off x="9006840" y="1691640"/>
            <a:ext cx="260604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Google Cloud</a:t>
            </a:r>
            <a:endParaRPr lang="en-US" sz="1350" dirty="0"/>
          </a:p>
        </p:txBody>
      </p:sp>
      <p:sp>
        <p:nvSpPr>
          <p:cNvPr id="9" name="Shape 7"/>
          <p:cNvSpPr/>
          <p:nvPr/>
        </p:nvSpPr>
        <p:spPr>
          <a:xfrm>
            <a:off x="548640" y="2258568"/>
            <a:ext cx="11064240" cy="868680"/>
          </a:xfrm>
          <a:prstGeom prst="rect">
            <a:avLst/>
          </a:prstGeom>
          <a:solidFill>
            <a:srgbClr val="F4F7FC"/>
          </a:solidFill>
          <a:ln w="9525">
            <a:solidFill>
              <a:srgbClr val="E5EAF2"/>
            </a:solidFill>
            <a:prstDash val="solid"/>
          </a:ln>
        </p:spPr>
      </p:sp>
      <p:sp>
        <p:nvSpPr>
          <p:cNvPr id="10" name="Text 8"/>
          <p:cNvSpPr/>
          <p:nvPr/>
        </p:nvSpPr>
        <p:spPr>
          <a:xfrm>
            <a:off x="548640" y="2258568"/>
            <a:ext cx="3017520" cy="868680"/>
          </a:xfrm>
          <a:prstGeom prst="rect">
            <a:avLst/>
          </a:prstGeom>
          <a:noFill/>
          <a:ln/>
        </p:spPr>
        <p:txBody>
          <a:bodyPr wrap="square" lIns="0" tIns="152400" rIns="0" bIns="0" rtlCol="0" anchor="ctr"/>
          <a:lstStyle/>
          <a:p>
            <a:pPr algn="l" indent="0" marL="0">
              <a:lnSpc>
                <a:spcPct val="115000"/>
              </a:lnSpc>
              <a:buNone/>
            </a:pPr>
            <a:r>
              <a:rPr lang="en-US" sz="1250" b="1" dirty="0">
                <a:solidFill>
                  <a:srgbClr val="1E2761"/>
                </a:solidFill>
                <a:latin typeface="Calibri" pitchFamily="34" charset="0"/>
                <a:ea typeface="Calibri" pitchFamily="34" charset="-122"/>
                <a:cs typeface="Calibri" pitchFamily="34" charset="-120"/>
              </a:rPr>
              <a:t>Retail-specific tooling</a:t>
            </a:r>
            <a:endParaRPr lang="en-US" sz="1250" dirty="0"/>
          </a:p>
        </p:txBody>
      </p:sp>
      <p:sp>
        <p:nvSpPr>
          <p:cNvPr id="11" name="Text 9"/>
          <p:cNvSpPr/>
          <p:nvPr/>
        </p:nvSpPr>
        <p:spPr>
          <a:xfrm>
            <a:off x="3566160" y="2258568"/>
            <a:ext cx="269748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Extensive</a:t>
            </a:r>
            <a:endParaRPr lang="en-US" sz="1250" dirty="0"/>
          </a:p>
        </p:txBody>
      </p:sp>
      <p:sp>
        <p:nvSpPr>
          <p:cNvPr id="12" name="Text 10"/>
          <p:cNvSpPr/>
          <p:nvPr/>
        </p:nvSpPr>
        <p:spPr>
          <a:xfrm>
            <a:off x="6263640" y="2258568"/>
            <a:ext cx="274320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Strong (MS ecosystem)</a:t>
            </a:r>
            <a:endParaRPr lang="en-US" sz="1250" dirty="0"/>
          </a:p>
        </p:txBody>
      </p:sp>
      <p:sp>
        <p:nvSpPr>
          <p:cNvPr id="13" name="Text 11"/>
          <p:cNvSpPr/>
          <p:nvPr/>
        </p:nvSpPr>
        <p:spPr>
          <a:xfrm>
            <a:off x="9006840" y="2258568"/>
            <a:ext cx="260604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Strong in AI/analytics</a:t>
            </a:r>
            <a:endParaRPr lang="en-US" sz="1250" dirty="0"/>
          </a:p>
        </p:txBody>
      </p:sp>
      <p:sp>
        <p:nvSpPr>
          <p:cNvPr id="14" name="Shape 12"/>
          <p:cNvSpPr/>
          <p:nvPr/>
        </p:nvSpPr>
        <p:spPr>
          <a:xfrm>
            <a:off x="548640" y="3127248"/>
            <a:ext cx="11064240" cy="868680"/>
          </a:xfrm>
          <a:prstGeom prst="rect">
            <a:avLst/>
          </a:prstGeom>
          <a:solidFill>
            <a:srgbClr val="FFFFFF"/>
          </a:solidFill>
          <a:ln w="9525">
            <a:solidFill>
              <a:srgbClr val="E5EAF2"/>
            </a:solidFill>
            <a:prstDash val="solid"/>
          </a:ln>
        </p:spPr>
      </p:sp>
      <p:sp>
        <p:nvSpPr>
          <p:cNvPr id="15" name="Text 13"/>
          <p:cNvSpPr/>
          <p:nvPr/>
        </p:nvSpPr>
        <p:spPr>
          <a:xfrm>
            <a:off x="548640" y="3127248"/>
            <a:ext cx="3017520" cy="868680"/>
          </a:xfrm>
          <a:prstGeom prst="rect">
            <a:avLst/>
          </a:prstGeom>
          <a:noFill/>
          <a:ln/>
        </p:spPr>
        <p:txBody>
          <a:bodyPr wrap="square" lIns="0" tIns="152400" rIns="0" bIns="0" rtlCol="0" anchor="ctr"/>
          <a:lstStyle/>
          <a:p>
            <a:pPr algn="l" indent="0" marL="0">
              <a:lnSpc>
                <a:spcPct val="115000"/>
              </a:lnSpc>
              <a:buNone/>
            </a:pPr>
            <a:r>
              <a:rPr lang="en-US" sz="1250" b="1" dirty="0">
                <a:solidFill>
                  <a:srgbClr val="1E2761"/>
                </a:solidFill>
                <a:latin typeface="Calibri" pitchFamily="34" charset="0"/>
                <a:ea typeface="Calibri" pitchFamily="34" charset="-122"/>
                <a:cs typeface="Calibri" pitchFamily="34" charset="-120"/>
              </a:rPr>
              <a:t>ERP / SAP integration</a:t>
            </a:r>
            <a:endParaRPr lang="en-US" sz="1250" dirty="0"/>
          </a:p>
        </p:txBody>
      </p:sp>
      <p:sp>
        <p:nvSpPr>
          <p:cNvPr id="16" name="Text 14"/>
          <p:cNvSpPr/>
          <p:nvPr/>
        </p:nvSpPr>
        <p:spPr>
          <a:xfrm>
            <a:off x="3566160" y="3127248"/>
            <a:ext cx="269748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Well-documented</a:t>
            </a:r>
            <a:endParaRPr lang="en-US" sz="1250" dirty="0"/>
          </a:p>
        </p:txBody>
      </p:sp>
      <p:sp>
        <p:nvSpPr>
          <p:cNvPr id="17" name="Text 15"/>
          <p:cNvSpPr/>
          <p:nvPr/>
        </p:nvSpPr>
        <p:spPr>
          <a:xfrm>
            <a:off x="6263640" y="3127248"/>
            <a:ext cx="274320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Native MS integration</a:t>
            </a:r>
            <a:endParaRPr lang="en-US" sz="1250" dirty="0"/>
          </a:p>
        </p:txBody>
      </p:sp>
      <p:sp>
        <p:nvSpPr>
          <p:cNvPr id="18" name="Text 16"/>
          <p:cNvSpPr/>
          <p:nvPr/>
        </p:nvSpPr>
        <p:spPr>
          <a:xfrm>
            <a:off x="9006840" y="3127248"/>
            <a:ext cx="260604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Fewer pre-built connectors</a:t>
            </a:r>
            <a:endParaRPr lang="en-US" sz="1250" dirty="0"/>
          </a:p>
        </p:txBody>
      </p:sp>
      <p:sp>
        <p:nvSpPr>
          <p:cNvPr id="19" name="Shape 17"/>
          <p:cNvSpPr/>
          <p:nvPr/>
        </p:nvSpPr>
        <p:spPr>
          <a:xfrm>
            <a:off x="548640" y="3995928"/>
            <a:ext cx="11064240" cy="868680"/>
          </a:xfrm>
          <a:prstGeom prst="rect">
            <a:avLst/>
          </a:prstGeom>
          <a:solidFill>
            <a:srgbClr val="F4F7FC"/>
          </a:solidFill>
          <a:ln w="9525">
            <a:solidFill>
              <a:srgbClr val="E5EAF2"/>
            </a:solidFill>
            <a:prstDash val="solid"/>
          </a:ln>
        </p:spPr>
      </p:sp>
      <p:sp>
        <p:nvSpPr>
          <p:cNvPr id="20" name="Text 18"/>
          <p:cNvSpPr/>
          <p:nvPr/>
        </p:nvSpPr>
        <p:spPr>
          <a:xfrm>
            <a:off x="548640" y="3995928"/>
            <a:ext cx="3017520" cy="868680"/>
          </a:xfrm>
          <a:prstGeom prst="rect">
            <a:avLst/>
          </a:prstGeom>
          <a:noFill/>
          <a:ln/>
        </p:spPr>
        <p:txBody>
          <a:bodyPr wrap="square" lIns="0" tIns="152400" rIns="0" bIns="0" rtlCol="0" anchor="ctr"/>
          <a:lstStyle/>
          <a:p>
            <a:pPr algn="l" indent="0" marL="0">
              <a:lnSpc>
                <a:spcPct val="115000"/>
              </a:lnSpc>
              <a:buNone/>
            </a:pPr>
            <a:r>
              <a:rPr lang="en-US" sz="1250" b="1" dirty="0">
                <a:solidFill>
                  <a:srgbClr val="1E2761"/>
                </a:solidFill>
                <a:latin typeface="Calibri" pitchFamily="34" charset="0"/>
                <a:ea typeface="Calibri" pitchFamily="34" charset="-122"/>
                <a:cs typeface="Calibri" pitchFamily="34" charset="-120"/>
              </a:rPr>
              <a:t>Pricing transparency</a:t>
            </a:r>
            <a:endParaRPr lang="en-US" sz="1250" dirty="0"/>
          </a:p>
        </p:txBody>
      </p:sp>
      <p:sp>
        <p:nvSpPr>
          <p:cNvPr id="21" name="Text 19"/>
          <p:cNvSpPr/>
          <p:nvPr/>
        </p:nvSpPr>
        <p:spPr>
          <a:xfrm>
            <a:off x="3566160" y="3995928"/>
            <a:ext cx="269748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Granular, complex</a:t>
            </a:r>
            <a:endParaRPr lang="en-US" sz="1250" dirty="0"/>
          </a:p>
        </p:txBody>
      </p:sp>
      <p:sp>
        <p:nvSpPr>
          <p:cNvPr id="22" name="Text 20"/>
          <p:cNvSpPr/>
          <p:nvPr/>
        </p:nvSpPr>
        <p:spPr>
          <a:xfrm>
            <a:off x="6263640" y="3995928"/>
            <a:ext cx="274320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Granular, complex</a:t>
            </a:r>
            <a:endParaRPr lang="en-US" sz="1250" dirty="0"/>
          </a:p>
        </p:txBody>
      </p:sp>
      <p:sp>
        <p:nvSpPr>
          <p:cNvPr id="23" name="Text 21"/>
          <p:cNvSpPr/>
          <p:nvPr/>
        </p:nvSpPr>
        <p:spPr>
          <a:xfrm>
            <a:off x="9006840" y="3995928"/>
            <a:ext cx="260604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Comparatively simpler</a:t>
            </a:r>
            <a:endParaRPr lang="en-US" sz="1250" dirty="0"/>
          </a:p>
        </p:txBody>
      </p:sp>
      <p:sp>
        <p:nvSpPr>
          <p:cNvPr id="24" name="Shape 22"/>
          <p:cNvSpPr/>
          <p:nvPr/>
        </p:nvSpPr>
        <p:spPr>
          <a:xfrm>
            <a:off x="548640" y="4864608"/>
            <a:ext cx="11064240" cy="868680"/>
          </a:xfrm>
          <a:prstGeom prst="rect">
            <a:avLst/>
          </a:prstGeom>
          <a:solidFill>
            <a:srgbClr val="FFFFFF"/>
          </a:solidFill>
          <a:ln w="9525">
            <a:solidFill>
              <a:srgbClr val="E5EAF2"/>
            </a:solidFill>
            <a:prstDash val="solid"/>
          </a:ln>
        </p:spPr>
      </p:sp>
      <p:sp>
        <p:nvSpPr>
          <p:cNvPr id="25" name="Text 23"/>
          <p:cNvSpPr/>
          <p:nvPr/>
        </p:nvSpPr>
        <p:spPr>
          <a:xfrm>
            <a:off x="548640" y="4864608"/>
            <a:ext cx="3017520" cy="868680"/>
          </a:xfrm>
          <a:prstGeom prst="rect">
            <a:avLst/>
          </a:prstGeom>
          <a:noFill/>
          <a:ln/>
        </p:spPr>
        <p:txBody>
          <a:bodyPr wrap="square" lIns="0" tIns="152400" rIns="0" bIns="0" rtlCol="0" anchor="ctr"/>
          <a:lstStyle/>
          <a:p>
            <a:pPr algn="l" indent="0" marL="0">
              <a:lnSpc>
                <a:spcPct val="115000"/>
              </a:lnSpc>
              <a:buNone/>
            </a:pPr>
            <a:r>
              <a:rPr lang="en-US" sz="1250" b="1" dirty="0">
                <a:solidFill>
                  <a:srgbClr val="1E2761"/>
                </a:solidFill>
                <a:latin typeface="Calibri" pitchFamily="34" charset="0"/>
                <a:ea typeface="Calibri" pitchFamily="34" charset="-122"/>
                <a:cs typeface="Calibri" pitchFamily="34" charset="-120"/>
              </a:rPr>
              <a:t>SMB / mid-retail fit</a:t>
            </a:r>
            <a:endParaRPr lang="en-US" sz="1250" dirty="0"/>
          </a:p>
        </p:txBody>
      </p:sp>
      <p:sp>
        <p:nvSpPr>
          <p:cNvPr id="26" name="Text 24"/>
          <p:cNvSpPr/>
          <p:nvPr/>
        </p:nvSpPr>
        <p:spPr>
          <a:xfrm>
            <a:off x="3566160" y="4864608"/>
            <a:ext cx="269748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High</a:t>
            </a:r>
            <a:endParaRPr lang="en-US" sz="1250" dirty="0"/>
          </a:p>
        </p:txBody>
      </p:sp>
      <p:sp>
        <p:nvSpPr>
          <p:cNvPr id="27" name="Text 25"/>
          <p:cNvSpPr/>
          <p:nvPr/>
        </p:nvSpPr>
        <p:spPr>
          <a:xfrm>
            <a:off x="6263640" y="4864608"/>
            <a:ext cx="274320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High</a:t>
            </a:r>
            <a:endParaRPr lang="en-US" sz="1250" dirty="0"/>
          </a:p>
        </p:txBody>
      </p:sp>
      <p:sp>
        <p:nvSpPr>
          <p:cNvPr id="28" name="Text 26"/>
          <p:cNvSpPr/>
          <p:nvPr/>
        </p:nvSpPr>
        <p:spPr>
          <a:xfrm>
            <a:off x="9006840" y="4864608"/>
            <a:ext cx="2606040" cy="868680"/>
          </a:xfrm>
          <a:prstGeom prst="rect">
            <a:avLst/>
          </a:prstGeom>
          <a:noFill/>
          <a:ln/>
        </p:spPr>
        <p:txBody>
          <a:bodyPr wrap="square" lIns="0" tIns="0" rIns="0" bIns="0" rtlCol="0" anchor="ctr"/>
          <a:lstStyle/>
          <a:p>
            <a:pPr algn="ctr" indent="0" marL="0">
              <a:lnSpc>
                <a:spcPct val="115000"/>
              </a:lnSpc>
              <a:buNone/>
            </a:pPr>
            <a:r>
              <a:rPr lang="en-US" sz="1250" dirty="0">
                <a:solidFill>
                  <a:srgbClr val="44546A"/>
                </a:solidFill>
                <a:latin typeface="Calibri" pitchFamily="34" charset="0"/>
                <a:ea typeface="Calibri" pitchFamily="34" charset="-122"/>
                <a:cs typeface="Calibri" pitchFamily="34" charset="-120"/>
              </a:rPr>
              <a:t>Moderate–High</a:t>
            </a:r>
            <a:endParaRPr lang="en-US" sz="1250" dirty="0"/>
          </a:p>
        </p:txBody>
      </p:sp>
      <p:sp>
        <p:nvSpPr>
          <p:cNvPr id="29" name="Text 27"/>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30" name="Text 28"/>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endParaRPr lang="en-US" sz="1200" dirty="0"/>
          </a:p>
        </p:txBody>
      </p:sp>
      <p:sp>
        <p:nvSpPr>
          <p:cNvPr id="3" name="Text 1"/>
          <p:cNvSpPr/>
          <p:nvPr/>
        </p:nvSpPr>
        <p:spPr>
          <a:xfrm>
            <a:off x="548640" y="457200"/>
            <a:ext cx="7315200" cy="292608"/>
          </a:xfrm>
          <a:prstGeom prst="rect">
            <a:avLst/>
          </a:prstGeom>
          <a:noFill/>
          <a:ln/>
        </p:spPr>
        <p:txBody>
          <a:bodyPr wrap="square" lIns="0" tIns="0" rIns="0" bIns="0" rtlCol="0" anchor="ctr"/>
          <a:lstStyle/>
          <a:p>
            <a:pPr indent="0" marL="0">
              <a:buNone/>
            </a:pPr>
            <a:r>
              <a:rPr lang="en-US" sz="1200" b="1" spc="200" kern="0" dirty="0">
                <a:solidFill>
                  <a:srgbClr val="5FC7C2"/>
                </a:solidFill>
                <a:latin typeface="Calibri" pitchFamily="34" charset="0"/>
                <a:ea typeface="Calibri" pitchFamily="34" charset="-122"/>
                <a:cs typeface="Calibri" pitchFamily="34" charset="-120"/>
              </a:rPr>
              <a:t>SECURITY &amp; GOVERNANCE</a:t>
            </a:r>
            <a:endParaRPr lang="en-US" sz="1200" dirty="0"/>
          </a:p>
        </p:txBody>
      </p:sp>
      <p:sp>
        <p:nvSpPr>
          <p:cNvPr id="4" name="Text 2"/>
          <p:cNvSpPr/>
          <p:nvPr/>
        </p:nvSpPr>
        <p:spPr>
          <a:xfrm>
            <a:off x="548640" y="777240"/>
            <a:ext cx="100584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Security Built In, Not Bolted On</a:t>
            </a:r>
            <a:endParaRPr lang="en-US" sz="2800" dirty="0"/>
          </a:p>
        </p:txBody>
      </p:sp>
      <p:sp>
        <p:nvSpPr>
          <p:cNvPr id="5" name="Shape 3"/>
          <p:cNvSpPr/>
          <p:nvPr/>
        </p:nvSpPr>
        <p:spPr>
          <a:xfrm>
            <a:off x="548640" y="1828800"/>
            <a:ext cx="2606040" cy="2743200"/>
          </a:xfrm>
          <a:prstGeom prst="roundRect">
            <a:avLst>
              <a:gd name="adj" fmla="val 3509"/>
            </a:avLst>
          </a:prstGeom>
          <a:solidFill>
            <a:srgbClr val="141A45"/>
          </a:solidFill>
          <a:ln/>
        </p:spPr>
      </p:sp>
      <p:sp>
        <p:nvSpPr>
          <p:cNvPr id="6" name="Shape 4"/>
          <p:cNvSpPr/>
          <p:nvPr/>
        </p:nvSpPr>
        <p:spPr>
          <a:xfrm>
            <a:off x="1540764" y="2103120"/>
            <a:ext cx="621792" cy="621792"/>
          </a:xfrm>
          <a:prstGeom prst="ellipse">
            <a:avLst/>
          </a:prstGeom>
          <a:solidFill>
            <a:srgbClr val="0E8C8C"/>
          </a:solidFill>
          <a:ln/>
        </p:spPr>
      </p:sp>
      <p:pic>
        <p:nvPicPr>
          <p:cNvPr id="7" name="Image 0" descr="preencoded.png"/>
          <p:cNvPicPr>
            <a:picLocks noChangeAspect="1"/>
          </p:cNvPicPr>
          <p:nvPr/>
        </p:nvPicPr>
        <p:blipFill>
          <a:blip r:embed="rId1"/>
          <a:stretch>
            <a:fillRect/>
          </a:stretch>
        </p:blipFill>
        <p:spPr>
          <a:xfrm>
            <a:off x="1687068" y="2249424"/>
            <a:ext cx="329184" cy="329184"/>
          </a:xfrm>
          <a:prstGeom prst="rect">
            <a:avLst/>
          </a:prstGeom>
        </p:spPr>
      </p:pic>
      <p:sp>
        <p:nvSpPr>
          <p:cNvPr id="8" name="Text 5"/>
          <p:cNvSpPr/>
          <p:nvPr/>
        </p:nvSpPr>
        <p:spPr>
          <a:xfrm>
            <a:off x="713232" y="2907792"/>
            <a:ext cx="227685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Encryption</a:t>
            </a:r>
            <a:endParaRPr lang="en-US" sz="1450" dirty="0"/>
          </a:p>
        </p:txBody>
      </p:sp>
      <p:sp>
        <p:nvSpPr>
          <p:cNvPr id="9" name="Text 6"/>
          <p:cNvSpPr/>
          <p:nvPr/>
        </p:nvSpPr>
        <p:spPr>
          <a:xfrm>
            <a:off x="749808" y="3364992"/>
            <a:ext cx="2203704" cy="1097280"/>
          </a:xfrm>
          <a:prstGeom prst="rect">
            <a:avLst/>
          </a:prstGeom>
          <a:noFill/>
          <a:ln/>
        </p:spPr>
        <p:txBody>
          <a:bodyPr wrap="square" lIns="0" tIns="0" rIns="0" bIns="0" rtlCol="0" anchor="ctr"/>
          <a:lstStyle/>
          <a:p>
            <a:pPr algn="ctr" indent="0" marL="0">
              <a:lnSpc>
                <a:spcPct val="125000"/>
              </a:lnSpc>
              <a:buNone/>
            </a:pPr>
            <a:r>
              <a:rPr lang="en-US" sz="1100" dirty="0">
                <a:solidFill>
                  <a:srgbClr val="EAF1FB"/>
                </a:solidFill>
                <a:latin typeface="Calibri" pitchFamily="34" charset="0"/>
                <a:ea typeface="Calibri" pitchFamily="34" charset="-122"/>
                <a:cs typeface="Calibri" pitchFamily="34" charset="-120"/>
              </a:rPr>
              <a:t>TLS/HTTPS in transit, plus encryption at rest for anything sensitive</a:t>
            </a:r>
            <a:endParaRPr lang="en-US" sz="1100" dirty="0"/>
          </a:p>
        </p:txBody>
      </p:sp>
      <p:sp>
        <p:nvSpPr>
          <p:cNvPr id="10" name="Shape 7"/>
          <p:cNvSpPr/>
          <p:nvPr/>
        </p:nvSpPr>
        <p:spPr>
          <a:xfrm>
            <a:off x="3401568" y="1828800"/>
            <a:ext cx="2606040" cy="2743200"/>
          </a:xfrm>
          <a:prstGeom prst="roundRect">
            <a:avLst>
              <a:gd name="adj" fmla="val 3509"/>
            </a:avLst>
          </a:prstGeom>
          <a:solidFill>
            <a:srgbClr val="141A45"/>
          </a:solidFill>
          <a:ln/>
        </p:spPr>
      </p:sp>
      <p:sp>
        <p:nvSpPr>
          <p:cNvPr id="11" name="Shape 8"/>
          <p:cNvSpPr/>
          <p:nvPr/>
        </p:nvSpPr>
        <p:spPr>
          <a:xfrm>
            <a:off x="4393692" y="2103120"/>
            <a:ext cx="621792" cy="621792"/>
          </a:xfrm>
          <a:prstGeom prst="ellipse">
            <a:avLst/>
          </a:prstGeom>
          <a:solidFill>
            <a:srgbClr val="0E8C8C"/>
          </a:solidFill>
          <a:ln/>
        </p:spPr>
      </p:sp>
      <p:pic>
        <p:nvPicPr>
          <p:cNvPr id="12" name="Image 1" descr="preencoded.png"/>
          <p:cNvPicPr>
            <a:picLocks noChangeAspect="1"/>
          </p:cNvPicPr>
          <p:nvPr/>
        </p:nvPicPr>
        <p:blipFill>
          <a:blip r:embed="rId2"/>
          <a:stretch>
            <a:fillRect/>
          </a:stretch>
        </p:blipFill>
        <p:spPr>
          <a:xfrm>
            <a:off x="4539996" y="2249424"/>
            <a:ext cx="329184" cy="329184"/>
          </a:xfrm>
          <a:prstGeom prst="rect">
            <a:avLst/>
          </a:prstGeom>
        </p:spPr>
      </p:pic>
      <p:sp>
        <p:nvSpPr>
          <p:cNvPr id="13" name="Text 9"/>
          <p:cNvSpPr/>
          <p:nvPr/>
        </p:nvSpPr>
        <p:spPr>
          <a:xfrm>
            <a:off x="3566160" y="2907792"/>
            <a:ext cx="227685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Role-Based Access</a:t>
            </a:r>
            <a:endParaRPr lang="en-US" sz="1450" dirty="0"/>
          </a:p>
        </p:txBody>
      </p:sp>
      <p:sp>
        <p:nvSpPr>
          <p:cNvPr id="14" name="Text 10"/>
          <p:cNvSpPr/>
          <p:nvPr/>
        </p:nvSpPr>
        <p:spPr>
          <a:xfrm>
            <a:off x="3602736" y="3364992"/>
            <a:ext cx="2203704" cy="1097280"/>
          </a:xfrm>
          <a:prstGeom prst="rect">
            <a:avLst/>
          </a:prstGeom>
          <a:noFill/>
          <a:ln/>
        </p:spPr>
        <p:txBody>
          <a:bodyPr wrap="square" lIns="0" tIns="0" rIns="0" bIns="0" rtlCol="0" anchor="ctr"/>
          <a:lstStyle/>
          <a:p>
            <a:pPr algn="ctr" indent="0" marL="0">
              <a:lnSpc>
                <a:spcPct val="125000"/>
              </a:lnSpc>
              <a:buNone/>
            </a:pPr>
            <a:r>
              <a:rPr lang="en-US" sz="1100" dirty="0">
                <a:solidFill>
                  <a:srgbClr val="EAF1FB"/>
                </a:solidFill>
                <a:latin typeface="Calibri" pitchFamily="34" charset="0"/>
                <a:ea typeface="Calibri" pitchFamily="34" charset="-122"/>
                <a:cs typeface="Calibri" pitchFamily="34" charset="-120"/>
              </a:rPr>
              <a:t>4 distinct roles, each limited to the functions they actually need</a:t>
            </a:r>
            <a:endParaRPr lang="en-US" sz="1100" dirty="0"/>
          </a:p>
        </p:txBody>
      </p:sp>
      <p:sp>
        <p:nvSpPr>
          <p:cNvPr id="15" name="Shape 11"/>
          <p:cNvSpPr/>
          <p:nvPr/>
        </p:nvSpPr>
        <p:spPr>
          <a:xfrm>
            <a:off x="6254496" y="1828800"/>
            <a:ext cx="2606040" cy="2743200"/>
          </a:xfrm>
          <a:prstGeom prst="roundRect">
            <a:avLst>
              <a:gd name="adj" fmla="val 3509"/>
            </a:avLst>
          </a:prstGeom>
          <a:solidFill>
            <a:srgbClr val="141A45"/>
          </a:solidFill>
          <a:ln/>
        </p:spPr>
      </p:sp>
      <p:sp>
        <p:nvSpPr>
          <p:cNvPr id="16" name="Shape 12"/>
          <p:cNvSpPr/>
          <p:nvPr/>
        </p:nvSpPr>
        <p:spPr>
          <a:xfrm>
            <a:off x="7246620" y="2103120"/>
            <a:ext cx="621792" cy="621792"/>
          </a:xfrm>
          <a:prstGeom prst="ellipse">
            <a:avLst/>
          </a:prstGeom>
          <a:solidFill>
            <a:srgbClr val="0E8C8C"/>
          </a:solidFill>
          <a:ln/>
        </p:spPr>
      </p:sp>
      <p:pic>
        <p:nvPicPr>
          <p:cNvPr id="17" name="Image 2" descr="preencoded.png"/>
          <p:cNvPicPr>
            <a:picLocks noChangeAspect="1"/>
          </p:cNvPicPr>
          <p:nvPr/>
        </p:nvPicPr>
        <p:blipFill>
          <a:blip r:embed="rId3"/>
          <a:stretch>
            <a:fillRect/>
          </a:stretch>
        </p:blipFill>
        <p:spPr>
          <a:xfrm>
            <a:off x="7392924" y="2249424"/>
            <a:ext cx="329184" cy="329184"/>
          </a:xfrm>
          <a:prstGeom prst="rect">
            <a:avLst/>
          </a:prstGeom>
        </p:spPr>
      </p:pic>
      <p:sp>
        <p:nvSpPr>
          <p:cNvPr id="18" name="Text 13"/>
          <p:cNvSpPr/>
          <p:nvPr/>
        </p:nvSpPr>
        <p:spPr>
          <a:xfrm>
            <a:off x="6419088" y="2907792"/>
            <a:ext cx="227685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Multi-Factor Auth</a:t>
            </a:r>
            <a:endParaRPr lang="en-US" sz="1450" dirty="0"/>
          </a:p>
        </p:txBody>
      </p:sp>
      <p:sp>
        <p:nvSpPr>
          <p:cNvPr id="19" name="Text 14"/>
          <p:cNvSpPr/>
          <p:nvPr/>
        </p:nvSpPr>
        <p:spPr>
          <a:xfrm>
            <a:off x="6455664" y="3364992"/>
            <a:ext cx="2203704" cy="1097280"/>
          </a:xfrm>
          <a:prstGeom prst="rect">
            <a:avLst/>
          </a:prstGeom>
          <a:noFill/>
          <a:ln/>
        </p:spPr>
        <p:txBody>
          <a:bodyPr wrap="square" lIns="0" tIns="0" rIns="0" bIns="0" rtlCol="0" anchor="ctr"/>
          <a:lstStyle/>
          <a:p>
            <a:pPr algn="ctr" indent="0" marL="0">
              <a:lnSpc>
                <a:spcPct val="125000"/>
              </a:lnSpc>
              <a:buNone/>
            </a:pPr>
            <a:r>
              <a:rPr lang="en-US" sz="1100" dirty="0">
                <a:solidFill>
                  <a:srgbClr val="EAF1FB"/>
                </a:solidFill>
                <a:latin typeface="Calibri" pitchFamily="34" charset="0"/>
                <a:ea typeface="Calibri" pitchFamily="34" charset="-122"/>
                <a:cs typeface="Calibri" pitchFamily="34" charset="-120"/>
              </a:rPr>
              <a:t>Required for every administrative and head-office account</a:t>
            </a:r>
            <a:endParaRPr lang="en-US" sz="1100" dirty="0"/>
          </a:p>
        </p:txBody>
      </p:sp>
      <p:sp>
        <p:nvSpPr>
          <p:cNvPr id="20" name="Shape 15"/>
          <p:cNvSpPr/>
          <p:nvPr/>
        </p:nvSpPr>
        <p:spPr>
          <a:xfrm>
            <a:off x="9107424" y="1828800"/>
            <a:ext cx="2606040" cy="2743200"/>
          </a:xfrm>
          <a:prstGeom prst="roundRect">
            <a:avLst>
              <a:gd name="adj" fmla="val 3509"/>
            </a:avLst>
          </a:prstGeom>
          <a:solidFill>
            <a:srgbClr val="141A45"/>
          </a:solidFill>
          <a:ln/>
        </p:spPr>
      </p:sp>
      <p:sp>
        <p:nvSpPr>
          <p:cNvPr id="21" name="Shape 16"/>
          <p:cNvSpPr/>
          <p:nvPr/>
        </p:nvSpPr>
        <p:spPr>
          <a:xfrm>
            <a:off x="10099548" y="2103120"/>
            <a:ext cx="621792" cy="621792"/>
          </a:xfrm>
          <a:prstGeom prst="ellipse">
            <a:avLst/>
          </a:prstGeom>
          <a:solidFill>
            <a:srgbClr val="0E8C8C"/>
          </a:solidFill>
          <a:ln/>
        </p:spPr>
      </p:sp>
      <p:pic>
        <p:nvPicPr>
          <p:cNvPr id="22" name="Image 3" descr="preencoded.png"/>
          <p:cNvPicPr>
            <a:picLocks noChangeAspect="1"/>
          </p:cNvPicPr>
          <p:nvPr/>
        </p:nvPicPr>
        <p:blipFill>
          <a:blip r:embed="rId4"/>
          <a:stretch>
            <a:fillRect/>
          </a:stretch>
        </p:blipFill>
        <p:spPr>
          <a:xfrm>
            <a:off x="10245852" y="2249424"/>
            <a:ext cx="329184" cy="329184"/>
          </a:xfrm>
          <a:prstGeom prst="rect">
            <a:avLst/>
          </a:prstGeom>
        </p:spPr>
      </p:pic>
      <p:sp>
        <p:nvSpPr>
          <p:cNvPr id="23" name="Text 17"/>
          <p:cNvSpPr/>
          <p:nvPr/>
        </p:nvSpPr>
        <p:spPr>
          <a:xfrm>
            <a:off x="9272016" y="2907792"/>
            <a:ext cx="227685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Shared Responsibility</a:t>
            </a:r>
            <a:endParaRPr lang="en-US" sz="1450" dirty="0"/>
          </a:p>
        </p:txBody>
      </p:sp>
      <p:sp>
        <p:nvSpPr>
          <p:cNvPr id="24" name="Text 18"/>
          <p:cNvSpPr/>
          <p:nvPr/>
        </p:nvSpPr>
        <p:spPr>
          <a:xfrm>
            <a:off x="9308592" y="3364992"/>
            <a:ext cx="2203704" cy="1097280"/>
          </a:xfrm>
          <a:prstGeom prst="rect">
            <a:avLst/>
          </a:prstGeom>
          <a:noFill/>
          <a:ln/>
        </p:spPr>
        <p:txBody>
          <a:bodyPr wrap="square" lIns="0" tIns="0" rIns="0" bIns="0" rtlCol="0" anchor="ctr"/>
          <a:lstStyle/>
          <a:p>
            <a:pPr algn="ctr" indent="0" marL="0">
              <a:lnSpc>
                <a:spcPct val="125000"/>
              </a:lnSpc>
              <a:buNone/>
            </a:pPr>
            <a:r>
              <a:rPr lang="en-US" sz="1100" dirty="0">
                <a:solidFill>
                  <a:srgbClr val="EAF1FB"/>
                </a:solidFill>
                <a:latin typeface="Calibri" pitchFamily="34" charset="0"/>
                <a:ea typeface="Calibri" pitchFamily="34" charset="-122"/>
                <a:cs typeface="Calibri" pitchFamily="34" charset="-120"/>
              </a:rPr>
              <a:t>The provider secures the infrastructure; the organization secures its apps and access</a:t>
            </a:r>
            <a:endParaRPr lang="en-US" sz="1100" dirty="0"/>
          </a:p>
        </p:txBody>
      </p:sp>
      <p:sp>
        <p:nvSpPr>
          <p:cNvPr id="25" name="Text 19"/>
          <p:cNvSpPr/>
          <p:nvPr/>
        </p:nvSpPr>
        <p:spPr>
          <a:xfrm>
            <a:off x="548640" y="4892040"/>
            <a:ext cx="11064240" cy="365760"/>
          </a:xfrm>
          <a:prstGeom prst="rect">
            <a:avLst/>
          </a:prstGeom>
          <a:noFill/>
          <a:ln/>
        </p:spPr>
        <p:txBody>
          <a:bodyPr wrap="square" lIns="0" tIns="0" rIns="0" bIns="0" rtlCol="0" anchor="ctr"/>
          <a:lstStyle/>
          <a:p>
            <a:pPr indent="0" marL="0">
              <a:buNone/>
            </a:pPr>
            <a:r>
              <a:rPr lang="en-US" sz="1200" i="1" dirty="0">
                <a:solidFill>
                  <a:srgbClr val="5FC7C2"/>
                </a:solidFill>
                <a:latin typeface="Calibri" pitchFamily="34" charset="0"/>
                <a:ea typeface="Calibri" pitchFamily="34" charset="-122"/>
                <a:cs typeface="Calibri" pitchFamily="34" charset="-120"/>
              </a:rPr>
              <a:t>PCI DSS concerns are handled by routing card data through certified third-party payment gateways rather than touching it directly.</a:t>
            </a:r>
            <a:endParaRPr lang="en-US" sz="1200" dirty="0"/>
          </a:p>
        </p:txBody>
      </p:sp>
      <p:sp>
        <p:nvSpPr>
          <p:cNvPr id="26" name="Text 20"/>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8E9BC4"/>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7" name="Text 21"/>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8E9B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Actually Improved</a:t>
            </a:r>
            <a:endParaRPr lang="en-US" sz="3000" dirty="0"/>
          </a:p>
        </p:txBody>
      </p:sp>
      <p:sp>
        <p:nvSpPr>
          <p:cNvPr id="4" name="Shape 2"/>
          <p:cNvSpPr/>
          <p:nvPr/>
        </p:nvSpPr>
        <p:spPr>
          <a:xfrm>
            <a:off x="548640" y="1691640"/>
            <a:ext cx="2606040" cy="2286000"/>
          </a:xfrm>
          <a:prstGeom prst="roundRect">
            <a:avLst>
              <a:gd name="adj" fmla="val 4000"/>
            </a:avLst>
          </a:prstGeom>
          <a:solidFill>
            <a:srgbClr val="F4F7FC"/>
          </a:solidFill>
          <a:ln/>
          <a:effectLst>
            <a:outerShdw sx="100000" sy="100000" kx="0" ky="0" algn="bl" rotWithShape="0" blurRad="967740000" dist="322580000" dir="324000000000">
              <a:srgbClr val="1E2761">
                <a:alpha val="700000000"/>
              </a:srgbClr>
            </a:outerShdw>
          </a:effectLst>
        </p:spPr>
      </p:sp>
      <p:sp>
        <p:nvSpPr>
          <p:cNvPr id="5" name="Shape 3"/>
          <p:cNvSpPr/>
          <p:nvPr/>
        </p:nvSpPr>
        <p:spPr>
          <a:xfrm>
            <a:off x="1559052" y="1947672"/>
            <a:ext cx="585216" cy="585216"/>
          </a:xfrm>
          <a:prstGeom prst="ellipse">
            <a:avLst/>
          </a:prstGeom>
          <a:solidFill>
            <a:srgbClr val="1E2761"/>
          </a:solidFill>
          <a:ln/>
        </p:spPr>
      </p:sp>
      <p:pic>
        <p:nvPicPr>
          <p:cNvPr id="6" name="Image 0" descr="preencoded.png"/>
          <p:cNvPicPr>
            <a:picLocks noChangeAspect="1"/>
          </p:cNvPicPr>
          <p:nvPr/>
        </p:nvPicPr>
        <p:blipFill>
          <a:blip r:embed="rId1"/>
          <a:stretch>
            <a:fillRect/>
          </a:stretch>
        </p:blipFill>
        <p:spPr>
          <a:xfrm>
            <a:off x="1696212" y="2084832"/>
            <a:ext cx="310896" cy="310896"/>
          </a:xfrm>
          <a:prstGeom prst="rect">
            <a:avLst/>
          </a:prstGeom>
        </p:spPr>
      </p:pic>
      <p:sp>
        <p:nvSpPr>
          <p:cNvPr id="7" name="Text 4"/>
          <p:cNvSpPr/>
          <p:nvPr/>
        </p:nvSpPr>
        <p:spPr>
          <a:xfrm>
            <a:off x="685800" y="2697480"/>
            <a:ext cx="2331720" cy="502920"/>
          </a:xfrm>
          <a:prstGeom prst="rect">
            <a:avLst/>
          </a:prstGeom>
          <a:noFill/>
          <a:ln/>
        </p:spPr>
        <p:txBody>
          <a:bodyPr wrap="square" lIns="0" tIns="0" rIns="0" bIns="0" rtlCol="0" anchor="ctr"/>
          <a:lstStyle/>
          <a:p>
            <a:pPr algn="ctr" indent="0" marL="0">
              <a:lnSpc>
                <a:spcPct val="105000"/>
              </a:lnSpc>
              <a:buNone/>
            </a:pPr>
            <a:r>
              <a:rPr lang="en-US" sz="1550" b="1" dirty="0">
                <a:solidFill>
                  <a:srgbClr val="0E8C8C"/>
                </a:solidFill>
                <a:latin typeface="Cambria" pitchFamily="34" charset="0"/>
                <a:ea typeface="Cambria" pitchFamily="34" charset="-122"/>
                <a:cs typeface="Cambria" pitchFamily="34" charset="-120"/>
              </a:rPr>
              <a:t>Lower</a:t>
            </a:r>
            <a:endParaRPr lang="en-US" sz="1550" dirty="0"/>
          </a:p>
        </p:txBody>
      </p:sp>
      <p:sp>
        <p:nvSpPr>
          <p:cNvPr id="8" name="Text 5"/>
          <p:cNvSpPr/>
          <p:nvPr/>
        </p:nvSpPr>
        <p:spPr>
          <a:xfrm>
            <a:off x="713232" y="3291840"/>
            <a:ext cx="2276856" cy="594360"/>
          </a:xfrm>
          <a:prstGeom prst="rect">
            <a:avLst/>
          </a:prstGeom>
          <a:noFill/>
          <a:ln/>
        </p:spPr>
        <p:txBody>
          <a:bodyPr wrap="square" lIns="0" tIns="0" rIns="0" bIns="0" rtlCol="0" anchor="ctr"/>
          <a:lstStyle/>
          <a:p>
            <a:pPr algn="ctr" indent="0" marL="0">
              <a:lnSpc>
                <a:spcPct val="120000"/>
              </a:lnSpc>
              <a:buNone/>
            </a:pPr>
            <a:r>
              <a:rPr lang="en-US" sz="1150" dirty="0">
                <a:solidFill>
                  <a:srgbClr val="44546A"/>
                </a:solidFill>
                <a:latin typeface="Calibri" pitchFamily="34" charset="0"/>
                <a:ea typeface="Calibri" pitchFamily="34" charset="-122"/>
                <a:cs typeface="Calibri" pitchFamily="34" charset="-120"/>
              </a:rPr>
              <a:t>Downtime during peak periods</a:t>
            </a:r>
            <a:endParaRPr lang="en-US" sz="1150" dirty="0"/>
          </a:p>
        </p:txBody>
      </p:sp>
      <p:sp>
        <p:nvSpPr>
          <p:cNvPr id="9" name="Shape 6"/>
          <p:cNvSpPr/>
          <p:nvPr/>
        </p:nvSpPr>
        <p:spPr>
          <a:xfrm>
            <a:off x="3401568" y="1691640"/>
            <a:ext cx="2606040" cy="2286000"/>
          </a:xfrm>
          <a:prstGeom prst="roundRect">
            <a:avLst>
              <a:gd name="adj" fmla="val 4000"/>
            </a:avLst>
          </a:prstGeom>
          <a:solidFill>
            <a:srgbClr val="F4F7FC"/>
          </a:solidFill>
          <a:ln/>
          <a:effectLst>
            <a:outerShdw sx="100000" sy="100000" kx="0" ky="0" algn="bl" rotWithShape="0" blurRad="967740000" dist="322580000" dir="324000000000">
              <a:srgbClr val="1E2761">
                <a:alpha val="700000000"/>
              </a:srgbClr>
            </a:outerShdw>
          </a:effectLst>
        </p:spPr>
      </p:sp>
      <p:sp>
        <p:nvSpPr>
          <p:cNvPr id="10" name="Shape 7"/>
          <p:cNvSpPr/>
          <p:nvPr/>
        </p:nvSpPr>
        <p:spPr>
          <a:xfrm>
            <a:off x="4411980" y="1947672"/>
            <a:ext cx="585216" cy="585216"/>
          </a:xfrm>
          <a:prstGeom prst="ellipse">
            <a:avLst/>
          </a:prstGeom>
          <a:solidFill>
            <a:srgbClr val="1E2761"/>
          </a:solidFill>
          <a:ln/>
        </p:spPr>
      </p:sp>
      <p:pic>
        <p:nvPicPr>
          <p:cNvPr id="11" name="Image 1" descr="preencoded.png"/>
          <p:cNvPicPr>
            <a:picLocks noChangeAspect="1"/>
          </p:cNvPicPr>
          <p:nvPr/>
        </p:nvPicPr>
        <p:blipFill>
          <a:blip r:embed="rId2"/>
          <a:stretch>
            <a:fillRect/>
          </a:stretch>
        </p:blipFill>
        <p:spPr>
          <a:xfrm>
            <a:off x="4549140" y="2084832"/>
            <a:ext cx="310896" cy="310896"/>
          </a:xfrm>
          <a:prstGeom prst="rect">
            <a:avLst/>
          </a:prstGeom>
        </p:spPr>
      </p:pic>
      <p:sp>
        <p:nvSpPr>
          <p:cNvPr id="12" name="Text 8"/>
          <p:cNvSpPr/>
          <p:nvPr/>
        </p:nvSpPr>
        <p:spPr>
          <a:xfrm>
            <a:off x="3538728" y="2697480"/>
            <a:ext cx="2331720" cy="502920"/>
          </a:xfrm>
          <a:prstGeom prst="rect">
            <a:avLst/>
          </a:prstGeom>
          <a:noFill/>
          <a:ln/>
        </p:spPr>
        <p:txBody>
          <a:bodyPr wrap="square" lIns="0" tIns="0" rIns="0" bIns="0" rtlCol="0" anchor="ctr"/>
          <a:lstStyle/>
          <a:p>
            <a:pPr algn="ctr" indent="0" marL="0">
              <a:lnSpc>
                <a:spcPct val="105000"/>
              </a:lnSpc>
              <a:buNone/>
            </a:pPr>
            <a:r>
              <a:rPr lang="en-US" sz="1550" b="1" dirty="0">
                <a:solidFill>
                  <a:srgbClr val="0E8C8C"/>
                </a:solidFill>
                <a:latin typeface="Cambria" pitchFamily="34" charset="0"/>
                <a:ea typeface="Cambria" pitchFamily="34" charset="-122"/>
                <a:cs typeface="Cambria" pitchFamily="34" charset="-120"/>
              </a:rPr>
              <a:t>Centralized &amp; simultaneous</a:t>
            </a:r>
            <a:endParaRPr lang="en-US" sz="1550" dirty="0"/>
          </a:p>
        </p:txBody>
      </p:sp>
      <p:sp>
        <p:nvSpPr>
          <p:cNvPr id="13" name="Text 9"/>
          <p:cNvSpPr/>
          <p:nvPr/>
        </p:nvSpPr>
        <p:spPr>
          <a:xfrm>
            <a:off x="3566160" y="3291840"/>
            <a:ext cx="2276856" cy="594360"/>
          </a:xfrm>
          <a:prstGeom prst="rect">
            <a:avLst/>
          </a:prstGeom>
          <a:noFill/>
          <a:ln/>
        </p:spPr>
        <p:txBody>
          <a:bodyPr wrap="square" lIns="0" tIns="0" rIns="0" bIns="0" rtlCol="0" anchor="ctr"/>
          <a:lstStyle/>
          <a:p>
            <a:pPr algn="ctr" indent="0" marL="0">
              <a:lnSpc>
                <a:spcPct val="120000"/>
              </a:lnSpc>
              <a:buNone/>
            </a:pPr>
            <a:r>
              <a:rPr lang="en-US" sz="1150" dirty="0">
                <a:solidFill>
                  <a:srgbClr val="44546A"/>
                </a:solidFill>
                <a:latin typeface="Calibri" pitchFamily="34" charset="0"/>
                <a:ea typeface="Calibri" pitchFamily="34" charset="-122"/>
                <a:cs typeface="Calibri" pitchFamily="34" charset="-120"/>
              </a:rPr>
              <a:t>Speed of software rollouts</a:t>
            </a:r>
            <a:endParaRPr lang="en-US" sz="1150" dirty="0"/>
          </a:p>
        </p:txBody>
      </p:sp>
      <p:sp>
        <p:nvSpPr>
          <p:cNvPr id="14" name="Shape 10"/>
          <p:cNvSpPr/>
          <p:nvPr/>
        </p:nvSpPr>
        <p:spPr>
          <a:xfrm>
            <a:off x="6254496" y="1691640"/>
            <a:ext cx="2606040" cy="2286000"/>
          </a:xfrm>
          <a:prstGeom prst="roundRect">
            <a:avLst>
              <a:gd name="adj" fmla="val 4000"/>
            </a:avLst>
          </a:prstGeom>
          <a:solidFill>
            <a:srgbClr val="F4F7FC"/>
          </a:solidFill>
          <a:ln/>
          <a:effectLst>
            <a:outerShdw sx="100000" sy="100000" kx="0" ky="0" algn="bl" rotWithShape="0" blurRad="967740000" dist="322580000" dir="324000000000">
              <a:srgbClr val="1E2761">
                <a:alpha val="700000000"/>
              </a:srgbClr>
            </a:outerShdw>
          </a:effectLst>
        </p:spPr>
      </p:sp>
      <p:sp>
        <p:nvSpPr>
          <p:cNvPr id="15" name="Shape 11"/>
          <p:cNvSpPr/>
          <p:nvPr/>
        </p:nvSpPr>
        <p:spPr>
          <a:xfrm>
            <a:off x="7264908" y="1947672"/>
            <a:ext cx="585216" cy="585216"/>
          </a:xfrm>
          <a:prstGeom prst="ellipse">
            <a:avLst/>
          </a:prstGeom>
          <a:solidFill>
            <a:srgbClr val="1E2761"/>
          </a:solidFill>
          <a:ln/>
        </p:spPr>
      </p:sp>
      <p:pic>
        <p:nvPicPr>
          <p:cNvPr id="16" name="Image 2" descr="preencoded.png"/>
          <p:cNvPicPr>
            <a:picLocks noChangeAspect="1"/>
          </p:cNvPicPr>
          <p:nvPr/>
        </p:nvPicPr>
        <p:blipFill>
          <a:blip r:embed="rId3"/>
          <a:stretch>
            <a:fillRect/>
          </a:stretch>
        </p:blipFill>
        <p:spPr>
          <a:xfrm>
            <a:off x="7402068" y="2084832"/>
            <a:ext cx="310896" cy="310896"/>
          </a:xfrm>
          <a:prstGeom prst="rect">
            <a:avLst/>
          </a:prstGeom>
        </p:spPr>
      </p:pic>
      <p:sp>
        <p:nvSpPr>
          <p:cNvPr id="17" name="Text 12"/>
          <p:cNvSpPr/>
          <p:nvPr/>
        </p:nvSpPr>
        <p:spPr>
          <a:xfrm>
            <a:off x="6391656" y="2697480"/>
            <a:ext cx="2331720" cy="502920"/>
          </a:xfrm>
          <a:prstGeom prst="rect">
            <a:avLst/>
          </a:prstGeom>
          <a:noFill/>
          <a:ln/>
        </p:spPr>
        <p:txBody>
          <a:bodyPr wrap="square" lIns="0" tIns="0" rIns="0" bIns="0" rtlCol="0" anchor="ctr"/>
          <a:lstStyle/>
          <a:p>
            <a:pPr algn="ctr" indent="0" marL="0">
              <a:lnSpc>
                <a:spcPct val="105000"/>
              </a:lnSpc>
              <a:buNone/>
            </a:pPr>
            <a:r>
              <a:rPr lang="en-US" sz="1550" b="1" dirty="0">
                <a:solidFill>
                  <a:srgbClr val="0E8C8C"/>
                </a:solidFill>
                <a:latin typeface="Cambria" pitchFamily="34" charset="0"/>
                <a:ea typeface="Cambria" pitchFamily="34" charset="-122"/>
                <a:cs typeface="Cambria" pitchFamily="34" charset="-120"/>
              </a:rPr>
              <a:t>Real-time</a:t>
            </a:r>
            <a:endParaRPr lang="en-US" sz="1550" dirty="0"/>
          </a:p>
        </p:txBody>
      </p:sp>
      <p:sp>
        <p:nvSpPr>
          <p:cNvPr id="18" name="Text 13"/>
          <p:cNvSpPr/>
          <p:nvPr/>
        </p:nvSpPr>
        <p:spPr>
          <a:xfrm>
            <a:off x="6419088" y="3291840"/>
            <a:ext cx="2276856" cy="594360"/>
          </a:xfrm>
          <a:prstGeom prst="rect">
            <a:avLst/>
          </a:prstGeom>
          <a:noFill/>
          <a:ln/>
        </p:spPr>
        <p:txBody>
          <a:bodyPr wrap="square" lIns="0" tIns="0" rIns="0" bIns="0" rtlCol="0" anchor="ctr"/>
          <a:lstStyle/>
          <a:p>
            <a:pPr algn="ctr" indent="0" marL="0">
              <a:lnSpc>
                <a:spcPct val="120000"/>
              </a:lnSpc>
              <a:buNone/>
            </a:pPr>
            <a:r>
              <a:rPr lang="en-US" sz="1150" dirty="0">
                <a:solidFill>
                  <a:srgbClr val="44546A"/>
                </a:solidFill>
                <a:latin typeface="Calibri" pitchFamily="34" charset="0"/>
                <a:ea typeface="Calibri" pitchFamily="34" charset="-122"/>
                <a:cs typeface="Calibri" pitchFamily="34" charset="-120"/>
              </a:rPr>
              <a:t>Visibility into inventory across stores</a:t>
            </a:r>
            <a:endParaRPr lang="en-US" sz="1150" dirty="0"/>
          </a:p>
        </p:txBody>
      </p:sp>
      <p:sp>
        <p:nvSpPr>
          <p:cNvPr id="19" name="Shape 14"/>
          <p:cNvSpPr/>
          <p:nvPr/>
        </p:nvSpPr>
        <p:spPr>
          <a:xfrm>
            <a:off x="9107424" y="1691640"/>
            <a:ext cx="2606040" cy="2286000"/>
          </a:xfrm>
          <a:prstGeom prst="roundRect">
            <a:avLst>
              <a:gd name="adj" fmla="val 4000"/>
            </a:avLst>
          </a:prstGeom>
          <a:solidFill>
            <a:srgbClr val="F4F7FC"/>
          </a:solidFill>
          <a:ln/>
          <a:effectLst>
            <a:outerShdw sx="100000" sy="100000" kx="0" ky="0" algn="bl" rotWithShape="0" blurRad="967740000" dist="322580000" dir="324000000000">
              <a:srgbClr val="1E2761">
                <a:alpha val="700000000"/>
              </a:srgbClr>
            </a:outerShdw>
          </a:effectLst>
        </p:spPr>
      </p:sp>
      <p:sp>
        <p:nvSpPr>
          <p:cNvPr id="20" name="Shape 15"/>
          <p:cNvSpPr/>
          <p:nvPr/>
        </p:nvSpPr>
        <p:spPr>
          <a:xfrm>
            <a:off x="10117836" y="1947672"/>
            <a:ext cx="585216" cy="585216"/>
          </a:xfrm>
          <a:prstGeom prst="ellipse">
            <a:avLst/>
          </a:prstGeom>
          <a:solidFill>
            <a:srgbClr val="1E2761"/>
          </a:solidFill>
          <a:ln/>
        </p:spPr>
      </p:sp>
      <p:pic>
        <p:nvPicPr>
          <p:cNvPr id="21" name="Image 3" descr="preencoded.png"/>
          <p:cNvPicPr>
            <a:picLocks noChangeAspect="1"/>
          </p:cNvPicPr>
          <p:nvPr/>
        </p:nvPicPr>
        <p:blipFill>
          <a:blip r:embed="rId4"/>
          <a:stretch>
            <a:fillRect/>
          </a:stretch>
        </p:blipFill>
        <p:spPr>
          <a:xfrm>
            <a:off x="10254996" y="2084832"/>
            <a:ext cx="310896" cy="310896"/>
          </a:xfrm>
          <a:prstGeom prst="rect">
            <a:avLst/>
          </a:prstGeom>
        </p:spPr>
      </p:pic>
      <p:sp>
        <p:nvSpPr>
          <p:cNvPr id="22" name="Text 16"/>
          <p:cNvSpPr/>
          <p:nvPr/>
        </p:nvSpPr>
        <p:spPr>
          <a:xfrm>
            <a:off x="9244584" y="2697480"/>
            <a:ext cx="2331720" cy="502920"/>
          </a:xfrm>
          <a:prstGeom prst="rect">
            <a:avLst/>
          </a:prstGeom>
          <a:noFill/>
          <a:ln/>
        </p:spPr>
        <p:txBody>
          <a:bodyPr wrap="square" lIns="0" tIns="0" rIns="0" bIns="0" rtlCol="0" anchor="ctr"/>
          <a:lstStyle/>
          <a:p>
            <a:pPr algn="ctr" indent="0" marL="0">
              <a:lnSpc>
                <a:spcPct val="105000"/>
              </a:lnSpc>
              <a:buNone/>
            </a:pPr>
            <a:r>
              <a:rPr lang="en-US" sz="1550" b="1" dirty="0">
                <a:solidFill>
                  <a:srgbClr val="0E8C8C"/>
                </a:solidFill>
                <a:latin typeface="Cambria" pitchFamily="34" charset="0"/>
                <a:ea typeface="Cambria" pitchFamily="34" charset="-122"/>
                <a:cs typeface="Cambria" pitchFamily="34" charset="-120"/>
              </a:rPr>
              <a:t>Low to moderate</a:t>
            </a:r>
            <a:endParaRPr lang="en-US" sz="1550" dirty="0"/>
          </a:p>
        </p:txBody>
      </p:sp>
      <p:sp>
        <p:nvSpPr>
          <p:cNvPr id="23" name="Text 17"/>
          <p:cNvSpPr/>
          <p:nvPr/>
        </p:nvSpPr>
        <p:spPr>
          <a:xfrm>
            <a:off x="9272016" y="3291840"/>
            <a:ext cx="2276856" cy="594360"/>
          </a:xfrm>
          <a:prstGeom prst="rect">
            <a:avLst/>
          </a:prstGeom>
          <a:noFill/>
          <a:ln/>
        </p:spPr>
        <p:txBody>
          <a:bodyPr wrap="square" lIns="0" tIns="0" rIns="0" bIns="0" rtlCol="0" anchor="ctr"/>
          <a:lstStyle/>
          <a:p>
            <a:pPr algn="ctr" indent="0" marL="0">
              <a:lnSpc>
                <a:spcPct val="120000"/>
              </a:lnSpc>
              <a:buNone/>
            </a:pPr>
            <a:r>
              <a:rPr lang="en-US" sz="1150" dirty="0">
                <a:solidFill>
                  <a:srgbClr val="44546A"/>
                </a:solidFill>
                <a:latin typeface="Calibri" pitchFamily="34" charset="0"/>
                <a:ea typeface="Calibri" pitchFamily="34" charset="-122"/>
                <a:cs typeface="Calibri" pitchFamily="34" charset="-120"/>
              </a:rPr>
              <a:t>Upfront capital investment</a:t>
            </a:r>
            <a:endParaRPr lang="en-US" sz="1150" dirty="0"/>
          </a:p>
        </p:txBody>
      </p:sp>
      <p:sp>
        <p:nvSpPr>
          <p:cNvPr id="24" name="Shape 18"/>
          <p:cNvSpPr/>
          <p:nvPr/>
        </p:nvSpPr>
        <p:spPr>
          <a:xfrm>
            <a:off x="548640" y="4251960"/>
            <a:ext cx="11064240" cy="1691640"/>
          </a:xfrm>
          <a:prstGeom prst="roundRect">
            <a:avLst>
              <a:gd name="adj" fmla="val 5405"/>
            </a:avLst>
          </a:prstGeom>
          <a:solidFill>
            <a:srgbClr val="1E2761"/>
          </a:solidFill>
          <a:ln/>
        </p:spPr>
      </p:sp>
      <p:pic>
        <p:nvPicPr>
          <p:cNvPr id="25" name="Image 4" descr="preencoded.png"/>
          <p:cNvPicPr>
            <a:picLocks noChangeAspect="1"/>
          </p:cNvPicPr>
          <p:nvPr/>
        </p:nvPicPr>
        <p:blipFill>
          <a:blip r:embed="rId5"/>
          <a:stretch>
            <a:fillRect/>
          </a:stretch>
        </p:blipFill>
        <p:spPr>
          <a:xfrm>
            <a:off x="868680" y="4553712"/>
            <a:ext cx="457200" cy="457200"/>
          </a:xfrm>
          <a:prstGeom prst="rect">
            <a:avLst/>
          </a:prstGeom>
        </p:spPr>
      </p:pic>
      <p:sp>
        <p:nvSpPr>
          <p:cNvPr id="26" name="Text 19"/>
          <p:cNvSpPr/>
          <p:nvPr/>
        </p:nvSpPr>
        <p:spPr>
          <a:xfrm>
            <a:off x="1508760" y="4434840"/>
            <a:ext cx="9784080" cy="1280160"/>
          </a:xfrm>
          <a:prstGeom prst="rect">
            <a:avLst/>
          </a:prstGeom>
          <a:noFill/>
          <a:ln/>
        </p:spPr>
        <p:txBody>
          <a:bodyPr wrap="square" lIns="0" tIns="0" rIns="0" bIns="0" rtlCol="0" anchor="ctr"/>
          <a:lstStyle/>
          <a:p>
            <a:pPr indent="0" marL="0">
              <a:lnSpc>
                <a:spcPct val="130000"/>
              </a:lnSpc>
              <a:buNone/>
            </a:pPr>
            <a:r>
              <a:rPr lang="en-US" sz="1350" i="1" dirty="0">
                <a:solidFill>
                  <a:srgbClr val="FFFFFF"/>
                </a:solidFill>
                <a:latin typeface="Calibri" pitchFamily="34" charset="0"/>
                <a:ea typeface="Calibri" pitchFamily="34" charset="-122"/>
                <a:cs typeface="Calibri" pitchFamily="34" charset="-120"/>
              </a:rPr>
              <a:t>One gap worth naming honestly: the API design here doesn't yet spell out detailed connector logic for deep legacy SAP/ERP integration — flagged as future work rather than glossed over.</a:t>
            </a:r>
            <a:endParaRPr lang="en-US" sz="1350" dirty="0"/>
          </a:p>
        </p:txBody>
      </p:sp>
      <p:sp>
        <p:nvSpPr>
          <p:cNvPr id="27" name="Text 20"/>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8" name="Text 21"/>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 Framework Worth Following</a:t>
            </a:r>
            <a:endParaRPr lang="en-US" sz="3000" dirty="0"/>
          </a:p>
        </p:txBody>
      </p:sp>
      <p:sp>
        <p:nvSpPr>
          <p:cNvPr id="4" name="Shape 2"/>
          <p:cNvSpPr/>
          <p:nvPr/>
        </p:nvSpPr>
        <p:spPr>
          <a:xfrm>
            <a:off x="548640" y="1691640"/>
            <a:ext cx="11064240" cy="786384"/>
          </a:xfrm>
          <a:prstGeom prst="roundRect">
            <a:avLst>
              <a:gd name="adj" fmla="val 9302"/>
            </a:avLst>
          </a:prstGeom>
          <a:solidFill>
            <a:srgbClr val="F4F7FC"/>
          </a:solidFill>
          <a:ln w="12700">
            <a:solidFill>
              <a:srgbClr val="DDE5F0"/>
            </a:solidFill>
            <a:prstDash val="solid"/>
          </a:ln>
        </p:spPr>
      </p:sp>
      <p:sp>
        <p:nvSpPr>
          <p:cNvPr id="5" name="Shape 3"/>
          <p:cNvSpPr/>
          <p:nvPr/>
        </p:nvSpPr>
        <p:spPr>
          <a:xfrm>
            <a:off x="777240" y="1856232"/>
            <a:ext cx="457200" cy="457200"/>
          </a:xfrm>
          <a:prstGeom prst="ellipse">
            <a:avLst/>
          </a:prstGeom>
          <a:solidFill>
            <a:srgbClr val="0E8C8C"/>
          </a:solidFill>
          <a:ln/>
        </p:spPr>
      </p:sp>
      <p:sp>
        <p:nvSpPr>
          <p:cNvPr id="6" name="Text 4"/>
          <p:cNvSpPr/>
          <p:nvPr/>
        </p:nvSpPr>
        <p:spPr>
          <a:xfrm>
            <a:off x="777240" y="18562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691640"/>
            <a:ext cx="9966960" cy="786384"/>
          </a:xfrm>
          <a:prstGeom prst="rect">
            <a:avLst/>
          </a:prstGeom>
          <a:noFill/>
          <a:ln/>
        </p:spPr>
        <p:txBody>
          <a:bodyPr wrap="square" lIns="0" tIns="0" rIns="0" bIns="0" rtlCol="0" anchor="ctr"/>
          <a:lstStyle/>
          <a:p>
            <a:pPr indent="0" marL="0">
              <a:lnSpc>
                <a:spcPct val="120000"/>
              </a:lnSpc>
              <a:buNone/>
            </a:pPr>
            <a:r>
              <a:rPr lang="en-US" sz="1350" dirty="0">
                <a:solidFill>
                  <a:srgbClr val="1E2761"/>
                </a:solidFill>
                <a:latin typeface="Calibri" pitchFamily="34" charset="0"/>
                <a:ea typeface="Calibri" pitchFamily="34" charset="-122"/>
                <a:cs typeface="Calibri" pitchFamily="34" charset="-120"/>
              </a:rPr>
              <a:t>Start with a phased, pilot-first migration — prove it works at a few stores before scaling up</a:t>
            </a:r>
            <a:endParaRPr lang="en-US" sz="1350" dirty="0"/>
          </a:p>
        </p:txBody>
      </p:sp>
      <p:sp>
        <p:nvSpPr>
          <p:cNvPr id="8" name="Shape 6"/>
          <p:cNvSpPr/>
          <p:nvPr/>
        </p:nvSpPr>
        <p:spPr>
          <a:xfrm>
            <a:off x="548640" y="2606040"/>
            <a:ext cx="11064240" cy="786384"/>
          </a:xfrm>
          <a:prstGeom prst="roundRect">
            <a:avLst>
              <a:gd name="adj" fmla="val 9302"/>
            </a:avLst>
          </a:prstGeom>
          <a:solidFill>
            <a:srgbClr val="FFFFFF"/>
          </a:solidFill>
          <a:ln w="12700">
            <a:solidFill>
              <a:srgbClr val="DDE5F0"/>
            </a:solidFill>
            <a:prstDash val="solid"/>
          </a:ln>
        </p:spPr>
      </p:sp>
      <p:sp>
        <p:nvSpPr>
          <p:cNvPr id="9" name="Shape 7"/>
          <p:cNvSpPr/>
          <p:nvPr/>
        </p:nvSpPr>
        <p:spPr>
          <a:xfrm>
            <a:off x="777240" y="2770632"/>
            <a:ext cx="457200" cy="457200"/>
          </a:xfrm>
          <a:prstGeom prst="ellipse">
            <a:avLst/>
          </a:prstGeom>
          <a:solidFill>
            <a:srgbClr val="0E8C8C"/>
          </a:solidFill>
          <a:ln/>
        </p:spPr>
      </p:sp>
      <p:sp>
        <p:nvSpPr>
          <p:cNvPr id="10" name="Text 8"/>
          <p:cNvSpPr/>
          <p:nvPr/>
        </p:nvSpPr>
        <p:spPr>
          <a:xfrm>
            <a:off x="777240" y="2770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417320" y="2606040"/>
            <a:ext cx="9966960" cy="786384"/>
          </a:xfrm>
          <a:prstGeom prst="rect">
            <a:avLst/>
          </a:prstGeom>
          <a:noFill/>
          <a:ln/>
        </p:spPr>
        <p:txBody>
          <a:bodyPr wrap="square" lIns="0" tIns="0" rIns="0" bIns="0" rtlCol="0" anchor="ctr"/>
          <a:lstStyle/>
          <a:p>
            <a:pPr indent="0" marL="0">
              <a:lnSpc>
                <a:spcPct val="120000"/>
              </a:lnSpc>
              <a:buNone/>
            </a:pPr>
            <a:r>
              <a:rPr lang="en-US" sz="1350" dirty="0">
                <a:solidFill>
                  <a:srgbClr val="1E2761"/>
                </a:solidFill>
                <a:latin typeface="Calibri" pitchFamily="34" charset="0"/>
                <a:ea typeface="Calibri" pitchFamily="34" charset="-122"/>
                <a:cs typeface="Calibri" pitchFamily="34" charset="-120"/>
              </a:rPr>
              <a:t>Set up centralized cost governance — tagging, budget alerts — before provisioning at scale</a:t>
            </a:r>
            <a:endParaRPr lang="en-US" sz="1350" dirty="0"/>
          </a:p>
        </p:txBody>
      </p:sp>
      <p:sp>
        <p:nvSpPr>
          <p:cNvPr id="12" name="Shape 10"/>
          <p:cNvSpPr/>
          <p:nvPr/>
        </p:nvSpPr>
        <p:spPr>
          <a:xfrm>
            <a:off x="548640" y="3520440"/>
            <a:ext cx="11064240" cy="786384"/>
          </a:xfrm>
          <a:prstGeom prst="roundRect">
            <a:avLst>
              <a:gd name="adj" fmla="val 9302"/>
            </a:avLst>
          </a:prstGeom>
          <a:solidFill>
            <a:srgbClr val="F4F7FC"/>
          </a:solidFill>
          <a:ln w="12700">
            <a:solidFill>
              <a:srgbClr val="DDE5F0"/>
            </a:solidFill>
            <a:prstDash val="solid"/>
          </a:ln>
        </p:spPr>
      </p:sp>
      <p:sp>
        <p:nvSpPr>
          <p:cNvPr id="13" name="Shape 11"/>
          <p:cNvSpPr/>
          <p:nvPr/>
        </p:nvSpPr>
        <p:spPr>
          <a:xfrm>
            <a:off x="777240" y="3685032"/>
            <a:ext cx="457200" cy="457200"/>
          </a:xfrm>
          <a:prstGeom prst="ellipse">
            <a:avLst/>
          </a:prstGeom>
          <a:solidFill>
            <a:srgbClr val="0E8C8C"/>
          </a:solidFill>
          <a:ln/>
        </p:spPr>
      </p:sp>
      <p:sp>
        <p:nvSpPr>
          <p:cNvPr id="14" name="Text 12"/>
          <p:cNvSpPr/>
          <p:nvPr/>
        </p:nvSpPr>
        <p:spPr>
          <a:xfrm>
            <a:off x="777240" y="3685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417320" y="3520440"/>
            <a:ext cx="9966960" cy="786384"/>
          </a:xfrm>
          <a:prstGeom prst="rect">
            <a:avLst/>
          </a:prstGeom>
          <a:noFill/>
          <a:ln/>
        </p:spPr>
        <p:txBody>
          <a:bodyPr wrap="square" lIns="0" tIns="0" rIns="0" bIns="0" rtlCol="0" anchor="ctr"/>
          <a:lstStyle/>
          <a:p>
            <a:pPr indent="0" marL="0">
              <a:lnSpc>
                <a:spcPct val="120000"/>
              </a:lnSpc>
              <a:buNone/>
            </a:pPr>
            <a:r>
              <a:rPr lang="en-US" sz="1350" dirty="0">
                <a:solidFill>
                  <a:srgbClr val="1E2761"/>
                </a:solidFill>
                <a:latin typeface="Calibri" pitchFamily="34" charset="0"/>
                <a:ea typeface="Calibri" pitchFamily="34" charset="-122"/>
                <a:cs typeface="Calibri" pitchFamily="34" charset="-120"/>
              </a:rPr>
              <a:t>Match the entry point (IaaS / PaaS / SaaS) to what your IT team can actually handle</a:t>
            </a:r>
            <a:endParaRPr lang="en-US" sz="1350" dirty="0"/>
          </a:p>
        </p:txBody>
      </p:sp>
      <p:sp>
        <p:nvSpPr>
          <p:cNvPr id="16" name="Shape 14"/>
          <p:cNvSpPr/>
          <p:nvPr/>
        </p:nvSpPr>
        <p:spPr>
          <a:xfrm>
            <a:off x="548640" y="4434840"/>
            <a:ext cx="11064240" cy="786384"/>
          </a:xfrm>
          <a:prstGeom prst="roundRect">
            <a:avLst>
              <a:gd name="adj" fmla="val 9302"/>
            </a:avLst>
          </a:prstGeom>
          <a:solidFill>
            <a:srgbClr val="FFFFFF"/>
          </a:solidFill>
          <a:ln w="12700">
            <a:solidFill>
              <a:srgbClr val="DDE5F0"/>
            </a:solidFill>
            <a:prstDash val="solid"/>
          </a:ln>
        </p:spPr>
      </p:sp>
      <p:sp>
        <p:nvSpPr>
          <p:cNvPr id="17" name="Shape 15"/>
          <p:cNvSpPr/>
          <p:nvPr/>
        </p:nvSpPr>
        <p:spPr>
          <a:xfrm>
            <a:off x="777240" y="4599432"/>
            <a:ext cx="457200" cy="457200"/>
          </a:xfrm>
          <a:prstGeom prst="ellipse">
            <a:avLst/>
          </a:prstGeom>
          <a:solidFill>
            <a:srgbClr val="0E8C8C"/>
          </a:solidFill>
          <a:ln/>
        </p:spPr>
      </p:sp>
      <p:sp>
        <p:nvSpPr>
          <p:cNvPr id="18" name="Text 16"/>
          <p:cNvSpPr/>
          <p:nvPr/>
        </p:nvSpPr>
        <p:spPr>
          <a:xfrm>
            <a:off x="777240" y="45994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417320" y="4434840"/>
            <a:ext cx="9966960" cy="786384"/>
          </a:xfrm>
          <a:prstGeom prst="rect">
            <a:avLst/>
          </a:prstGeom>
          <a:noFill/>
          <a:ln/>
        </p:spPr>
        <p:txBody>
          <a:bodyPr wrap="square" lIns="0" tIns="0" rIns="0" bIns="0" rtlCol="0" anchor="ctr"/>
          <a:lstStyle/>
          <a:p>
            <a:pPr indent="0" marL="0">
              <a:lnSpc>
                <a:spcPct val="120000"/>
              </a:lnSpc>
              <a:buNone/>
            </a:pPr>
            <a:r>
              <a:rPr lang="en-US" sz="1350" dirty="0">
                <a:solidFill>
                  <a:srgbClr val="1E2761"/>
                </a:solidFill>
                <a:latin typeface="Calibri" pitchFamily="34" charset="0"/>
                <a:ea typeface="Calibri" pitchFamily="34" charset="-122"/>
                <a:cs typeface="Calibri" pitchFamily="34" charset="-120"/>
              </a:rPr>
              <a:t>Invest in staff training early — organizational readiness matters more than technical complexity</a:t>
            </a:r>
            <a:endParaRPr lang="en-US" sz="1350" dirty="0"/>
          </a:p>
        </p:txBody>
      </p:sp>
      <p:sp>
        <p:nvSpPr>
          <p:cNvPr id="20" name="Shape 18"/>
          <p:cNvSpPr/>
          <p:nvPr/>
        </p:nvSpPr>
        <p:spPr>
          <a:xfrm>
            <a:off x="548640" y="5349240"/>
            <a:ext cx="11064240" cy="786384"/>
          </a:xfrm>
          <a:prstGeom prst="roundRect">
            <a:avLst>
              <a:gd name="adj" fmla="val 9302"/>
            </a:avLst>
          </a:prstGeom>
          <a:solidFill>
            <a:srgbClr val="F4F7FC"/>
          </a:solidFill>
          <a:ln w="12700">
            <a:solidFill>
              <a:srgbClr val="DDE5F0"/>
            </a:solidFill>
            <a:prstDash val="solid"/>
          </a:ln>
        </p:spPr>
      </p:sp>
      <p:sp>
        <p:nvSpPr>
          <p:cNvPr id="21" name="Shape 19"/>
          <p:cNvSpPr/>
          <p:nvPr/>
        </p:nvSpPr>
        <p:spPr>
          <a:xfrm>
            <a:off x="777240" y="5513832"/>
            <a:ext cx="457200" cy="457200"/>
          </a:xfrm>
          <a:prstGeom prst="ellipse">
            <a:avLst/>
          </a:prstGeom>
          <a:solidFill>
            <a:srgbClr val="0E8C8C"/>
          </a:solidFill>
          <a:ln/>
        </p:spPr>
      </p:sp>
      <p:sp>
        <p:nvSpPr>
          <p:cNvPr id="22" name="Text 20"/>
          <p:cNvSpPr/>
          <p:nvPr/>
        </p:nvSpPr>
        <p:spPr>
          <a:xfrm>
            <a:off x="777240" y="55138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1417320" y="5349240"/>
            <a:ext cx="9966960" cy="786384"/>
          </a:xfrm>
          <a:prstGeom prst="rect">
            <a:avLst/>
          </a:prstGeom>
          <a:noFill/>
          <a:ln/>
        </p:spPr>
        <p:txBody>
          <a:bodyPr wrap="square" lIns="0" tIns="0" rIns="0" bIns="0" rtlCol="0" anchor="ctr"/>
          <a:lstStyle/>
          <a:p>
            <a:pPr indent="0" marL="0">
              <a:lnSpc>
                <a:spcPct val="120000"/>
              </a:lnSpc>
              <a:buNone/>
            </a:pPr>
            <a:r>
              <a:rPr lang="en-US" sz="1350" dirty="0">
                <a:solidFill>
                  <a:srgbClr val="1E2761"/>
                </a:solidFill>
                <a:latin typeface="Calibri" pitchFamily="34" charset="0"/>
                <a:ea typeface="Calibri" pitchFamily="34" charset="-122"/>
                <a:cs typeface="Calibri" pitchFamily="34" charset="-120"/>
              </a:rPr>
              <a:t>Build security and IAM planning into the timeline from day one, not as an afterthought</a:t>
            </a:r>
            <a:endParaRPr lang="en-US" sz="1350" dirty="0"/>
          </a:p>
        </p:txBody>
      </p:sp>
      <p:sp>
        <p:nvSpPr>
          <p:cNvPr id="24" name="Text 22"/>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5" name="Text 23"/>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FUTURE SCOPE</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This Could Go Next</a:t>
            </a:r>
            <a:endParaRPr lang="en-US" sz="3000" dirty="0"/>
          </a:p>
        </p:txBody>
      </p:sp>
      <p:sp>
        <p:nvSpPr>
          <p:cNvPr id="4" name="Shape 2"/>
          <p:cNvSpPr/>
          <p:nvPr/>
        </p:nvSpPr>
        <p:spPr>
          <a:xfrm>
            <a:off x="548640" y="1691640"/>
            <a:ext cx="2606040" cy="3017520"/>
          </a:xfrm>
          <a:prstGeom prst="roundRect">
            <a:avLst>
              <a:gd name="adj" fmla="val 3509"/>
            </a:avLst>
          </a:prstGeom>
          <a:solidFill>
            <a:srgbClr val="FFFFFF"/>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5" name="Shape 3"/>
          <p:cNvSpPr/>
          <p:nvPr/>
        </p:nvSpPr>
        <p:spPr>
          <a:xfrm>
            <a:off x="1559052" y="1965960"/>
            <a:ext cx="585216" cy="585216"/>
          </a:xfrm>
          <a:prstGeom prst="ellipse">
            <a:avLst/>
          </a:prstGeom>
          <a:solidFill>
            <a:srgbClr val="D9A441"/>
          </a:solidFill>
          <a:ln/>
        </p:spPr>
      </p:sp>
      <p:pic>
        <p:nvPicPr>
          <p:cNvPr id="6" name="Image 0" descr="preencoded.png"/>
          <p:cNvPicPr>
            <a:picLocks noChangeAspect="1"/>
          </p:cNvPicPr>
          <p:nvPr/>
        </p:nvPicPr>
        <p:blipFill>
          <a:blip r:embed="rId1"/>
          <a:stretch>
            <a:fillRect/>
          </a:stretch>
        </p:blipFill>
        <p:spPr>
          <a:xfrm>
            <a:off x="1696212" y="2103120"/>
            <a:ext cx="310896" cy="310896"/>
          </a:xfrm>
          <a:prstGeom prst="rect">
            <a:avLst/>
          </a:prstGeom>
        </p:spPr>
      </p:pic>
      <p:sp>
        <p:nvSpPr>
          <p:cNvPr id="7" name="Text 4"/>
          <p:cNvSpPr/>
          <p:nvPr/>
        </p:nvSpPr>
        <p:spPr>
          <a:xfrm>
            <a:off x="713232" y="2770632"/>
            <a:ext cx="2276856" cy="548640"/>
          </a:xfrm>
          <a:prstGeom prst="rect">
            <a:avLst/>
          </a:prstGeom>
          <a:noFill/>
          <a:ln/>
        </p:spPr>
        <p:txBody>
          <a:bodyPr wrap="square" lIns="0" tIns="0" rIns="0" bIns="0" rtlCol="0" anchor="ctr"/>
          <a:lstStyle/>
          <a:p>
            <a:pPr algn="ctr" indent="0" marL="0">
              <a:lnSpc>
                <a:spcPct val="110000"/>
              </a:lnSpc>
              <a:buNone/>
            </a:pPr>
            <a:r>
              <a:rPr lang="en-US" sz="1350" b="1" dirty="0">
                <a:solidFill>
                  <a:srgbClr val="1E2761"/>
                </a:solidFill>
                <a:latin typeface="Calibri" pitchFamily="34" charset="0"/>
                <a:ea typeface="Calibri" pitchFamily="34" charset="-122"/>
                <a:cs typeface="Calibri" pitchFamily="34" charset="-120"/>
              </a:rPr>
              <a:t>Deeper ERP Integration</a:t>
            </a:r>
            <a:endParaRPr lang="en-US" sz="1350" dirty="0"/>
          </a:p>
        </p:txBody>
      </p:sp>
      <p:sp>
        <p:nvSpPr>
          <p:cNvPr id="8" name="Text 5"/>
          <p:cNvSpPr/>
          <p:nvPr/>
        </p:nvSpPr>
        <p:spPr>
          <a:xfrm>
            <a:off x="731520" y="3355848"/>
            <a:ext cx="2240280" cy="1188720"/>
          </a:xfrm>
          <a:prstGeom prst="rect">
            <a:avLst/>
          </a:prstGeom>
          <a:noFill/>
          <a:ln/>
        </p:spPr>
        <p:txBody>
          <a:bodyPr wrap="square" lIns="0" tIns="0" rIns="0" bIns="0" rtlCol="0" anchor="ctr"/>
          <a:lstStyle/>
          <a:p>
            <a:pPr algn="ctr" indent="0" marL="0">
              <a:lnSpc>
                <a:spcPct val="125000"/>
              </a:lnSpc>
              <a:buNone/>
            </a:pPr>
            <a:r>
              <a:rPr lang="en-US" sz="1100" dirty="0">
                <a:solidFill>
                  <a:srgbClr val="44546A"/>
                </a:solidFill>
                <a:latin typeface="Calibri" pitchFamily="34" charset="0"/>
                <a:ea typeface="Calibri" pitchFamily="34" charset="-122"/>
                <a:cs typeface="Calibri" pitchFamily="34" charset="-120"/>
              </a:rPr>
              <a:t>A detailed, connector-level design for syncing with legacy SAP systems</a:t>
            </a:r>
            <a:endParaRPr lang="en-US" sz="1100" dirty="0"/>
          </a:p>
        </p:txBody>
      </p:sp>
      <p:sp>
        <p:nvSpPr>
          <p:cNvPr id="9" name="Shape 6"/>
          <p:cNvSpPr/>
          <p:nvPr/>
        </p:nvSpPr>
        <p:spPr>
          <a:xfrm>
            <a:off x="3401568" y="1691640"/>
            <a:ext cx="2606040" cy="3017520"/>
          </a:xfrm>
          <a:prstGeom prst="roundRect">
            <a:avLst>
              <a:gd name="adj" fmla="val 3509"/>
            </a:avLst>
          </a:prstGeom>
          <a:solidFill>
            <a:srgbClr val="F4F7FC"/>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10" name="Shape 7"/>
          <p:cNvSpPr/>
          <p:nvPr/>
        </p:nvSpPr>
        <p:spPr>
          <a:xfrm>
            <a:off x="4411980" y="1965960"/>
            <a:ext cx="585216" cy="585216"/>
          </a:xfrm>
          <a:prstGeom prst="ellipse">
            <a:avLst/>
          </a:prstGeom>
          <a:solidFill>
            <a:srgbClr val="D9A441"/>
          </a:solidFill>
          <a:ln/>
        </p:spPr>
      </p:sp>
      <p:pic>
        <p:nvPicPr>
          <p:cNvPr id="11" name="Image 1" descr="preencoded.png"/>
          <p:cNvPicPr>
            <a:picLocks noChangeAspect="1"/>
          </p:cNvPicPr>
          <p:nvPr/>
        </p:nvPicPr>
        <p:blipFill>
          <a:blip r:embed="rId2"/>
          <a:stretch>
            <a:fillRect/>
          </a:stretch>
        </p:blipFill>
        <p:spPr>
          <a:xfrm>
            <a:off x="4549140" y="2103120"/>
            <a:ext cx="310896" cy="310896"/>
          </a:xfrm>
          <a:prstGeom prst="rect">
            <a:avLst/>
          </a:prstGeom>
        </p:spPr>
      </p:pic>
      <p:sp>
        <p:nvSpPr>
          <p:cNvPr id="12" name="Text 8"/>
          <p:cNvSpPr/>
          <p:nvPr/>
        </p:nvSpPr>
        <p:spPr>
          <a:xfrm>
            <a:off x="3566160" y="2770632"/>
            <a:ext cx="2276856" cy="548640"/>
          </a:xfrm>
          <a:prstGeom prst="rect">
            <a:avLst/>
          </a:prstGeom>
          <a:noFill/>
          <a:ln/>
        </p:spPr>
        <p:txBody>
          <a:bodyPr wrap="square" lIns="0" tIns="0" rIns="0" bIns="0" rtlCol="0" anchor="ctr"/>
          <a:lstStyle/>
          <a:p>
            <a:pPr algn="ctr" indent="0" marL="0">
              <a:lnSpc>
                <a:spcPct val="110000"/>
              </a:lnSpc>
              <a:buNone/>
            </a:pPr>
            <a:r>
              <a:rPr lang="en-US" sz="1350" b="1" dirty="0">
                <a:solidFill>
                  <a:srgbClr val="1E2761"/>
                </a:solidFill>
                <a:latin typeface="Calibri" pitchFamily="34" charset="0"/>
                <a:ea typeface="Calibri" pitchFamily="34" charset="-122"/>
                <a:cs typeface="Calibri" pitchFamily="34" charset="-120"/>
              </a:rPr>
              <a:t>AI-Driven Forecasting</a:t>
            </a:r>
            <a:endParaRPr lang="en-US" sz="1350" dirty="0"/>
          </a:p>
        </p:txBody>
      </p:sp>
      <p:sp>
        <p:nvSpPr>
          <p:cNvPr id="13" name="Text 9"/>
          <p:cNvSpPr/>
          <p:nvPr/>
        </p:nvSpPr>
        <p:spPr>
          <a:xfrm>
            <a:off x="3584448" y="3355848"/>
            <a:ext cx="2240280" cy="1188720"/>
          </a:xfrm>
          <a:prstGeom prst="rect">
            <a:avLst/>
          </a:prstGeom>
          <a:noFill/>
          <a:ln/>
        </p:spPr>
        <p:txBody>
          <a:bodyPr wrap="square" lIns="0" tIns="0" rIns="0" bIns="0" rtlCol="0" anchor="ctr"/>
          <a:lstStyle/>
          <a:p>
            <a:pPr algn="ctr" indent="0" marL="0">
              <a:lnSpc>
                <a:spcPct val="125000"/>
              </a:lnSpc>
              <a:buNone/>
            </a:pPr>
            <a:r>
              <a:rPr lang="en-US" sz="1100" dirty="0">
                <a:solidFill>
                  <a:srgbClr val="44546A"/>
                </a:solidFill>
                <a:latin typeface="Calibri" pitchFamily="34" charset="0"/>
                <a:ea typeface="Calibri" pitchFamily="34" charset="-122"/>
                <a:cs typeface="Calibri" pitchFamily="34" charset="-120"/>
              </a:rPr>
              <a:t>ML-based demand prediction, replacing today's static reorder thresholds</a:t>
            </a:r>
            <a:endParaRPr lang="en-US" sz="1100" dirty="0"/>
          </a:p>
        </p:txBody>
      </p:sp>
      <p:sp>
        <p:nvSpPr>
          <p:cNvPr id="14" name="Shape 10"/>
          <p:cNvSpPr/>
          <p:nvPr/>
        </p:nvSpPr>
        <p:spPr>
          <a:xfrm>
            <a:off x="6254496" y="1691640"/>
            <a:ext cx="2606040" cy="3017520"/>
          </a:xfrm>
          <a:prstGeom prst="roundRect">
            <a:avLst>
              <a:gd name="adj" fmla="val 3509"/>
            </a:avLst>
          </a:prstGeom>
          <a:solidFill>
            <a:srgbClr val="FFFFFF"/>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15" name="Shape 11"/>
          <p:cNvSpPr/>
          <p:nvPr/>
        </p:nvSpPr>
        <p:spPr>
          <a:xfrm>
            <a:off x="7264908" y="1965960"/>
            <a:ext cx="585216" cy="585216"/>
          </a:xfrm>
          <a:prstGeom prst="ellipse">
            <a:avLst/>
          </a:prstGeom>
          <a:solidFill>
            <a:srgbClr val="D9A441"/>
          </a:solidFill>
          <a:ln/>
        </p:spPr>
      </p:sp>
      <p:pic>
        <p:nvPicPr>
          <p:cNvPr id="16" name="Image 2" descr="preencoded.png"/>
          <p:cNvPicPr>
            <a:picLocks noChangeAspect="1"/>
          </p:cNvPicPr>
          <p:nvPr/>
        </p:nvPicPr>
        <p:blipFill>
          <a:blip r:embed="rId3"/>
          <a:stretch>
            <a:fillRect/>
          </a:stretch>
        </p:blipFill>
        <p:spPr>
          <a:xfrm>
            <a:off x="7402068" y="2103120"/>
            <a:ext cx="310896" cy="310896"/>
          </a:xfrm>
          <a:prstGeom prst="rect">
            <a:avLst/>
          </a:prstGeom>
        </p:spPr>
      </p:pic>
      <p:sp>
        <p:nvSpPr>
          <p:cNvPr id="17" name="Text 12"/>
          <p:cNvSpPr/>
          <p:nvPr/>
        </p:nvSpPr>
        <p:spPr>
          <a:xfrm>
            <a:off x="6419088" y="2770632"/>
            <a:ext cx="2276856" cy="548640"/>
          </a:xfrm>
          <a:prstGeom prst="rect">
            <a:avLst/>
          </a:prstGeom>
          <a:noFill/>
          <a:ln/>
        </p:spPr>
        <p:txBody>
          <a:bodyPr wrap="square" lIns="0" tIns="0" rIns="0" bIns="0" rtlCol="0" anchor="ctr"/>
          <a:lstStyle/>
          <a:p>
            <a:pPr algn="ctr" indent="0" marL="0">
              <a:lnSpc>
                <a:spcPct val="110000"/>
              </a:lnSpc>
              <a:buNone/>
            </a:pPr>
            <a:r>
              <a:rPr lang="en-US" sz="1350" b="1" dirty="0">
                <a:solidFill>
                  <a:srgbClr val="1E2761"/>
                </a:solidFill>
                <a:latin typeface="Calibri" pitchFamily="34" charset="0"/>
                <a:ea typeface="Calibri" pitchFamily="34" charset="-122"/>
                <a:cs typeface="Calibri" pitchFamily="34" charset="-120"/>
              </a:rPr>
              <a:t>Edge Computing</a:t>
            </a:r>
            <a:endParaRPr lang="en-US" sz="1350" dirty="0"/>
          </a:p>
        </p:txBody>
      </p:sp>
      <p:sp>
        <p:nvSpPr>
          <p:cNvPr id="18" name="Text 13"/>
          <p:cNvSpPr/>
          <p:nvPr/>
        </p:nvSpPr>
        <p:spPr>
          <a:xfrm>
            <a:off x="6437376" y="3355848"/>
            <a:ext cx="2240280" cy="1188720"/>
          </a:xfrm>
          <a:prstGeom prst="rect">
            <a:avLst/>
          </a:prstGeom>
          <a:noFill/>
          <a:ln/>
        </p:spPr>
        <p:txBody>
          <a:bodyPr wrap="square" lIns="0" tIns="0" rIns="0" bIns="0" rtlCol="0" anchor="ctr"/>
          <a:lstStyle/>
          <a:p>
            <a:pPr algn="ctr" indent="0" marL="0">
              <a:lnSpc>
                <a:spcPct val="125000"/>
              </a:lnSpc>
              <a:buNone/>
            </a:pPr>
            <a:r>
              <a:rPr lang="en-US" sz="1100" dirty="0">
                <a:solidFill>
                  <a:srgbClr val="44546A"/>
                </a:solidFill>
                <a:latin typeface="Calibri" pitchFamily="34" charset="0"/>
                <a:ea typeface="Calibri" pitchFamily="34" charset="-122"/>
                <a:cs typeface="Calibri" pitchFamily="34" charset="-120"/>
              </a:rPr>
              <a:t>Local in-store processing to stay resilient when connectivity drops</a:t>
            </a:r>
            <a:endParaRPr lang="en-US" sz="1100" dirty="0"/>
          </a:p>
        </p:txBody>
      </p:sp>
      <p:sp>
        <p:nvSpPr>
          <p:cNvPr id="19" name="Shape 14"/>
          <p:cNvSpPr/>
          <p:nvPr/>
        </p:nvSpPr>
        <p:spPr>
          <a:xfrm>
            <a:off x="9107424" y="1691640"/>
            <a:ext cx="2606040" cy="3017520"/>
          </a:xfrm>
          <a:prstGeom prst="roundRect">
            <a:avLst>
              <a:gd name="adj" fmla="val 3509"/>
            </a:avLst>
          </a:prstGeom>
          <a:solidFill>
            <a:srgbClr val="F4F7FC"/>
          </a:solidFill>
          <a:ln w="12700">
            <a:solidFill>
              <a:srgbClr val="DDE5F0"/>
            </a:solidFill>
            <a:prstDash val="solid"/>
          </a:ln>
          <a:effectLst>
            <a:outerShdw sx="100000" sy="100000" kx="0" ky="0" algn="bl" rotWithShape="0" blurRad="967740000" dist="322580000" dir="324000000000">
              <a:srgbClr val="1E2761">
                <a:alpha val="700000000"/>
              </a:srgbClr>
            </a:outerShdw>
          </a:effectLst>
        </p:spPr>
      </p:sp>
      <p:sp>
        <p:nvSpPr>
          <p:cNvPr id="20" name="Shape 15"/>
          <p:cNvSpPr/>
          <p:nvPr/>
        </p:nvSpPr>
        <p:spPr>
          <a:xfrm>
            <a:off x="10117836" y="1965960"/>
            <a:ext cx="585216" cy="585216"/>
          </a:xfrm>
          <a:prstGeom prst="ellipse">
            <a:avLst/>
          </a:prstGeom>
          <a:solidFill>
            <a:srgbClr val="D9A441"/>
          </a:solidFill>
          <a:ln/>
        </p:spPr>
      </p:sp>
      <p:pic>
        <p:nvPicPr>
          <p:cNvPr id="21" name="Image 3" descr="preencoded.png"/>
          <p:cNvPicPr>
            <a:picLocks noChangeAspect="1"/>
          </p:cNvPicPr>
          <p:nvPr/>
        </p:nvPicPr>
        <p:blipFill>
          <a:blip r:embed="rId4"/>
          <a:stretch>
            <a:fillRect/>
          </a:stretch>
        </p:blipFill>
        <p:spPr>
          <a:xfrm>
            <a:off x="10254996" y="2103120"/>
            <a:ext cx="310896" cy="310896"/>
          </a:xfrm>
          <a:prstGeom prst="rect">
            <a:avLst/>
          </a:prstGeom>
        </p:spPr>
      </p:pic>
      <p:sp>
        <p:nvSpPr>
          <p:cNvPr id="22" name="Text 16"/>
          <p:cNvSpPr/>
          <p:nvPr/>
        </p:nvSpPr>
        <p:spPr>
          <a:xfrm>
            <a:off x="9272016" y="2770632"/>
            <a:ext cx="2276856" cy="548640"/>
          </a:xfrm>
          <a:prstGeom prst="rect">
            <a:avLst/>
          </a:prstGeom>
          <a:noFill/>
          <a:ln/>
        </p:spPr>
        <p:txBody>
          <a:bodyPr wrap="square" lIns="0" tIns="0" rIns="0" bIns="0" rtlCol="0" anchor="ctr"/>
          <a:lstStyle/>
          <a:p>
            <a:pPr algn="ctr" indent="0" marL="0">
              <a:lnSpc>
                <a:spcPct val="110000"/>
              </a:lnSpc>
              <a:buNone/>
            </a:pPr>
            <a:r>
              <a:rPr lang="en-US" sz="1350" b="1" dirty="0">
                <a:solidFill>
                  <a:srgbClr val="1E2761"/>
                </a:solidFill>
                <a:latin typeface="Calibri" pitchFamily="34" charset="0"/>
                <a:ea typeface="Calibri" pitchFamily="34" charset="-122"/>
                <a:cs typeface="Calibri" pitchFamily="34" charset="-120"/>
              </a:rPr>
              <a:t>Beyond Retail</a:t>
            </a:r>
            <a:endParaRPr lang="en-US" sz="1350" dirty="0"/>
          </a:p>
        </p:txBody>
      </p:sp>
      <p:sp>
        <p:nvSpPr>
          <p:cNvPr id="23" name="Text 17"/>
          <p:cNvSpPr/>
          <p:nvPr/>
        </p:nvSpPr>
        <p:spPr>
          <a:xfrm>
            <a:off x="9290304" y="3355848"/>
            <a:ext cx="2240280" cy="1188720"/>
          </a:xfrm>
          <a:prstGeom prst="rect">
            <a:avLst/>
          </a:prstGeom>
          <a:noFill/>
          <a:ln/>
        </p:spPr>
        <p:txBody>
          <a:bodyPr wrap="square" lIns="0" tIns="0" rIns="0" bIns="0" rtlCol="0" anchor="ctr"/>
          <a:lstStyle/>
          <a:p>
            <a:pPr algn="ctr" indent="0" marL="0">
              <a:lnSpc>
                <a:spcPct val="125000"/>
              </a:lnSpc>
              <a:buNone/>
            </a:pPr>
            <a:r>
              <a:rPr lang="en-US" sz="1100" dirty="0">
                <a:solidFill>
                  <a:srgbClr val="44546A"/>
                </a:solidFill>
                <a:latin typeface="Calibri" pitchFamily="34" charset="0"/>
                <a:ea typeface="Calibri" pitchFamily="34" charset="-122"/>
                <a:cs typeface="Calibri" pitchFamily="34" charset="-120"/>
              </a:rPr>
              <a:t>Testing whether this framework holds up outside retail — healthcare, finance</a:t>
            </a:r>
            <a:endParaRPr lang="en-US" sz="1100" dirty="0"/>
          </a:p>
        </p:txBody>
      </p:sp>
      <p:sp>
        <p:nvSpPr>
          <p:cNvPr id="24" name="Text 18"/>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25" name="Text 19"/>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indent="0" marL="0">
              <a:buNone/>
            </a:pPr>
            <a:r>
              <a:rPr lang="en-US" sz="1200" b="1" spc="200" kern="0" dirty="0">
                <a:solidFill>
                  <a:srgbClr val="0E8C8C"/>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Cloud Computing Isn't Optional Anymore</a:t>
            </a:r>
            <a:endParaRPr lang="en-US" sz="3000" dirty="0"/>
          </a:p>
        </p:txBody>
      </p:sp>
      <p:sp>
        <p:nvSpPr>
          <p:cNvPr id="4" name="Text 2"/>
          <p:cNvSpPr/>
          <p:nvPr/>
        </p:nvSpPr>
        <p:spPr>
          <a:xfrm>
            <a:off x="548640" y="1554480"/>
            <a:ext cx="6675120" cy="2194560"/>
          </a:xfrm>
          <a:prstGeom prst="rect">
            <a:avLst/>
          </a:prstGeom>
          <a:noFill/>
          <a:ln/>
        </p:spPr>
        <p:txBody>
          <a:bodyPr wrap="square" lIns="0" tIns="0" rIns="0" bIns="0" rtlCol="0" anchor="ctr"/>
          <a:lstStyle/>
          <a:p>
            <a:pPr indent="0" marL="0">
              <a:lnSpc>
                <a:spcPct val="140000"/>
              </a:lnSpc>
              <a:buNone/>
            </a:pPr>
            <a:r>
              <a:rPr lang="en-US" sz="1500" dirty="0">
                <a:solidFill>
                  <a:srgbClr val="44546A"/>
                </a:solidFill>
                <a:latin typeface="Calibri" pitchFamily="34" charset="0"/>
                <a:ea typeface="Calibri" pitchFamily="34" charset="-122"/>
                <a:cs typeface="Calibri" pitchFamily="34" charset="-120"/>
              </a:rPr>
              <a:t>Cloud computing has gone from a nice-to-have to something close to a basic requirement for competitive retail. Pulling together the literature, the interviews, the case patterns, and the system design in this project shows both the real benefits and the genuine challenges retail organizations have to work through to get there.</a:t>
            </a:r>
            <a:endParaRPr lang="en-US" sz="1500" dirty="0"/>
          </a:p>
        </p:txBody>
      </p:sp>
      <p:sp>
        <p:nvSpPr>
          <p:cNvPr id="5" name="Shape 3"/>
          <p:cNvSpPr/>
          <p:nvPr/>
        </p:nvSpPr>
        <p:spPr>
          <a:xfrm>
            <a:off x="548640" y="3931920"/>
            <a:ext cx="219456" cy="219456"/>
          </a:xfrm>
          <a:prstGeom prst="ellipse">
            <a:avLst/>
          </a:prstGeom>
          <a:solidFill>
            <a:srgbClr val="0E8C8C"/>
          </a:solidFill>
          <a:ln/>
        </p:spPr>
      </p:sp>
      <p:pic>
        <p:nvPicPr>
          <p:cNvPr id="6" name="Image 0" descr="preencoded.png"/>
          <p:cNvPicPr>
            <a:picLocks noChangeAspect="1"/>
          </p:cNvPicPr>
          <p:nvPr/>
        </p:nvPicPr>
        <p:blipFill>
          <a:blip r:embed="rId1"/>
          <a:stretch>
            <a:fillRect/>
          </a:stretch>
        </p:blipFill>
        <p:spPr>
          <a:xfrm>
            <a:off x="594360" y="3968496"/>
            <a:ext cx="128016" cy="128016"/>
          </a:xfrm>
          <a:prstGeom prst="rect">
            <a:avLst/>
          </a:prstGeom>
        </p:spPr>
      </p:pic>
      <p:sp>
        <p:nvSpPr>
          <p:cNvPr id="7" name="Text 4"/>
          <p:cNvSpPr/>
          <p:nvPr/>
        </p:nvSpPr>
        <p:spPr>
          <a:xfrm>
            <a:off x="896112" y="3867912"/>
            <a:ext cx="630936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All 4 project objectives were substantively addressed</a:t>
            </a:r>
            <a:endParaRPr lang="en-US" sz="1300" dirty="0"/>
          </a:p>
        </p:txBody>
      </p:sp>
      <p:sp>
        <p:nvSpPr>
          <p:cNvPr id="8" name="Shape 5"/>
          <p:cNvSpPr/>
          <p:nvPr/>
        </p:nvSpPr>
        <p:spPr>
          <a:xfrm>
            <a:off x="548640" y="4434840"/>
            <a:ext cx="219456" cy="219456"/>
          </a:xfrm>
          <a:prstGeom prst="ellipse">
            <a:avLst/>
          </a:prstGeom>
          <a:solidFill>
            <a:srgbClr val="0E8C8C"/>
          </a:solidFill>
          <a:ln/>
        </p:spPr>
      </p:sp>
      <p:pic>
        <p:nvPicPr>
          <p:cNvPr id="9" name="Image 1" descr="preencoded.png"/>
          <p:cNvPicPr>
            <a:picLocks noChangeAspect="1"/>
          </p:cNvPicPr>
          <p:nvPr/>
        </p:nvPicPr>
        <p:blipFill>
          <a:blip r:embed="rId2"/>
          <a:stretch>
            <a:fillRect/>
          </a:stretch>
        </p:blipFill>
        <p:spPr>
          <a:xfrm>
            <a:off x="594360" y="4471416"/>
            <a:ext cx="128016" cy="128016"/>
          </a:xfrm>
          <a:prstGeom prst="rect">
            <a:avLst/>
          </a:prstGeom>
        </p:spPr>
      </p:pic>
      <p:sp>
        <p:nvSpPr>
          <p:cNvPr id="10" name="Text 6"/>
          <p:cNvSpPr/>
          <p:nvPr/>
        </p:nvSpPr>
        <p:spPr>
          <a:xfrm>
            <a:off x="896112" y="4370832"/>
            <a:ext cx="630936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 complete conceptual system design package was delivered</a:t>
            </a:r>
            <a:endParaRPr lang="en-US" sz="1300" dirty="0"/>
          </a:p>
        </p:txBody>
      </p:sp>
      <p:sp>
        <p:nvSpPr>
          <p:cNvPr id="11" name="Shape 7"/>
          <p:cNvSpPr/>
          <p:nvPr/>
        </p:nvSpPr>
        <p:spPr>
          <a:xfrm>
            <a:off x="548640" y="4937760"/>
            <a:ext cx="219456" cy="219456"/>
          </a:xfrm>
          <a:prstGeom prst="ellipse">
            <a:avLst/>
          </a:prstGeom>
          <a:solidFill>
            <a:srgbClr val="0E8C8C"/>
          </a:solidFill>
          <a:ln/>
        </p:spPr>
      </p:sp>
      <p:pic>
        <p:nvPicPr>
          <p:cNvPr id="12" name="Image 2" descr="preencoded.png"/>
          <p:cNvPicPr>
            <a:picLocks noChangeAspect="1"/>
          </p:cNvPicPr>
          <p:nvPr/>
        </p:nvPicPr>
        <p:blipFill>
          <a:blip r:embed="rId3"/>
          <a:stretch>
            <a:fillRect/>
          </a:stretch>
        </p:blipFill>
        <p:spPr>
          <a:xfrm>
            <a:off x="594360" y="4974336"/>
            <a:ext cx="128016" cy="128016"/>
          </a:xfrm>
          <a:prstGeom prst="rect">
            <a:avLst/>
          </a:prstGeom>
        </p:spPr>
      </p:pic>
      <p:sp>
        <p:nvSpPr>
          <p:cNvPr id="13" name="Text 8"/>
          <p:cNvSpPr/>
          <p:nvPr/>
        </p:nvSpPr>
        <p:spPr>
          <a:xfrm>
            <a:off x="896112" y="4873752"/>
            <a:ext cx="6309360" cy="4114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Real practitioner evidence, not just literature</a:t>
            </a:r>
            <a:endParaRPr lang="en-US" sz="1300" dirty="0"/>
          </a:p>
        </p:txBody>
      </p:sp>
      <p:sp>
        <p:nvSpPr>
          <p:cNvPr id="14" name="Shape 9"/>
          <p:cNvSpPr/>
          <p:nvPr/>
        </p:nvSpPr>
        <p:spPr>
          <a:xfrm>
            <a:off x="7589520" y="1554480"/>
            <a:ext cx="4023360" cy="4434840"/>
          </a:xfrm>
          <a:prstGeom prst="roundRect">
            <a:avLst>
              <a:gd name="adj" fmla="val 2273"/>
            </a:avLst>
          </a:prstGeom>
          <a:solidFill>
            <a:srgbClr val="1E2761"/>
          </a:solidFill>
          <a:ln/>
          <a:effectLst>
            <a:outerShdw sx="100000" sy="100000" kx="0" ky="0" algn="bl" rotWithShape="0" blurRad="1290320000" dist="483870000" dir="324000000000">
              <a:srgbClr val="1E2761">
                <a:alpha val="1500000000"/>
              </a:srgbClr>
            </a:outerShdw>
          </a:effectLst>
        </p:spPr>
      </p:sp>
      <p:pic>
        <p:nvPicPr>
          <p:cNvPr id="15" name="Image 3" descr="preencoded.png"/>
          <p:cNvPicPr>
            <a:picLocks noChangeAspect="1"/>
          </p:cNvPicPr>
          <p:nvPr/>
        </p:nvPicPr>
        <p:blipFill>
          <a:blip r:embed="rId4"/>
          <a:stretch>
            <a:fillRect/>
          </a:stretch>
        </p:blipFill>
        <p:spPr>
          <a:xfrm>
            <a:off x="7909560" y="1874520"/>
            <a:ext cx="502920" cy="502920"/>
          </a:xfrm>
          <a:prstGeom prst="rect">
            <a:avLst/>
          </a:prstGeom>
        </p:spPr>
      </p:pic>
      <p:sp>
        <p:nvSpPr>
          <p:cNvPr id="16" name="Text 10"/>
          <p:cNvSpPr/>
          <p:nvPr/>
        </p:nvSpPr>
        <p:spPr>
          <a:xfrm>
            <a:off x="7909560" y="2468880"/>
            <a:ext cx="3474720" cy="274320"/>
          </a:xfrm>
          <a:prstGeom prst="rect">
            <a:avLst/>
          </a:prstGeom>
          <a:noFill/>
          <a:ln/>
        </p:spPr>
        <p:txBody>
          <a:bodyPr wrap="square" lIns="0" tIns="0" rIns="0" bIns="0" rtlCol="0" anchor="ctr"/>
          <a:lstStyle/>
          <a:p>
            <a:pPr indent="0" marL="0">
              <a:buNone/>
            </a:pPr>
            <a:r>
              <a:rPr lang="en-US" sz="1150" b="1" spc="150" kern="0" dirty="0">
                <a:solidFill>
                  <a:srgbClr val="5FC7C2"/>
                </a:solidFill>
                <a:latin typeface="Calibri" pitchFamily="34" charset="0"/>
                <a:ea typeface="Calibri" pitchFamily="34" charset="-122"/>
                <a:cs typeface="Calibri" pitchFamily="34" charset="-120"/>
              </a:rPr>
              <a:t>WHAT I TOOK AWAY</a:t>
            </a:r>
            <a:endParaRPr lang="en-US" sz="1150" dirty="0"/>
          </a:p>
        </p:txBody>
      </p:sp>
      <p:sp>
        <p:nvSpPr>
          <p:cNvPr id="17" name="Text 11"/>
          <p:cNvSpPr/>
          <p:nvPr/>
        </p:nvSpPr>
        <p:spPr>
          <a:xfrm>
            <a:off x="7909560" y="2834640"/>
            <a:ext cx="3429000" cy="2926080"/>
          </a:xfrm>
          <a:prstGeom prst="rect">
            <a:avLst/>
          </a:prstGeom>
          <a:noFill/>
          <a:ln/>
        </p:spPr>
        <p:txBody>
          <a:bodyPr wrap="square" lIns="0" tIns="0" rIns="0" bIns="0" rtlCol="0" anchor="ctr"/>
          <a:lstStyle/>
          <a:p>
            <a:pPr indent="0" marL="0">
              <a:lnSpc>
                <a:spcPct val="140000"/>
              </a:lnSpc>
              <a:buNone/>
            </a:pPr>
            <a:r>
              <a:rPr lang="en-US" sz="1300" i="1" dirty="0">
                <a:solidFill>
                  <a:srgbClr val="FFFFFF"/>
                </a:solidFill>
                <a:latin typeface="Cambria" pitchFamily="34" charset="0"/>
                <a:ea typeface="Cambria" pitchFamily="34" charset="-122"/>
                <a:cs typeface="Cambria" pitchFamily="34" charset="-120"/>
              </a:rPr>
              <a:t>Applying structured systems analysis to a real business problem, getting hands-on with UML modeling for cloud-native design, comparing cloud platforms on practical criteria, and combining primary research with a literature review.</a:t>
            </a:r>
            <a:endParaRPr lang="en-US" sz="1300" dirty="0"/>
          </a:p>
        </p:txBody>
      </p:sp>
      <p:sp>
        <p:nvSpPr>
          <p:cNvPr id="18" name="Text 12"/>
          <p:cNvSpPr/>
          <p:nvPr/>
        </p:nvSpPr>
        <p:spPr>
          <a:xfrm>
            <a:off x="365760" y="6565392"/>
            <a:ext cx="7315200" cy="256032"/>
          </a:xfrm>
          <a:prstGeom prst="rect">
            <a:avLst/>
          </a:prstGeom>
          <a:noFill/>
          <a:ln/>
        </p:spPr>
        <p:txBody>
          <a:bodyPr wrap="square" lIns="0" tIns="0" rIns="0" bIns="0" rtlCol="0" anchor="ctr"/>
          <a:lstStyle/>
          <a:p>
            <a:pPr indent="0" marL="0">
              <a:buNone/>
            </a:pPr>
            <a:r>
              <a:rPr lang="en-US" sz="900" dirty="0">
                <a:solidFill>
                  <a:srgbClr val="6B7A99"/>
                </a:solidFill>
                <a:latin typeface="Calibri" pitchFamily="34" charset="0"/>
                <a:ea typeface="Calibri" pitchFamily="34" charset="-122"/>
                <a:cs typeface="Calibri" pitchFamily="34" charset="-120"/>
              </a:rPr>
              <a:t>Implementation of Cloud Computing in Business Operations</a:t>
            </a:r>
            <a:endParaRPr lang="en-US" sz="900" dirty="0"/>
          </a:p>
        </p:txBody>
      </p:sp>
      <p:sp>
        <p:nvSpPr>
          <p:cNvPr id="19" name="Text 13"/>
          <p:cNvSpPr/>
          <p:nvPr/>
        </p:nvSpPr>
        <p:spPr>
          <a:xfrm>
            <a:off x="11430000" y="6565392"/>
            <a:ext cx="457200" cy="256032"/>
          </a:xfrm>
          <a:prstGeom prst="rect">
            <a:avLst/>
          </a:prstGeom>
          <a:noFill/>
          <a:ln/>
        </p:spPr>
        <p:txBody>
          <a:bodyPr wrap="square" lIns="0" tIns="0" rIns="0" bIns="0" rtlCol="0" anchor="ctr"/>
          <a:lstStyle/>
          <a:p>
            <a:pPr algn="r" indent="0" marL="0">
              <a:buNone/>
            </a:pPr>
            <a:r>
              <a:rPr lang="en-US" sz="900" dirty="0">
                <a:solidFill>
                  <a:srgbClr val="6B7A9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alphaModFix amt="12000"/>
          </a:blip>
          <a:stretch>
            <a:fillRect/>
          </a:stretch>
        </p:blipFill>
        <p:spPr>
          <a:xfrm>
            <a:off x="-914400" y="2926080"/>
            <a:ext cx="4206240" cy="4206240"/>
          </a:xfrm>
          <a:prstGeom prst="rect">
            <a:avLst/>
          </a:prstGeom>
        </p:spPr>
      </p:pic>
      <p:sp>
        <p:nvSpPr>
          <p:cNvPr id="3" name="Shape 0"/>
          <p:cNvSpPr/>
          <p:nvPr/>
        </p:nvSpPr>
        <p:spPr>
          <a:xfrm>
            <a:off x="9601200" y="-1371600"/>
            <a:ext cx="4572000" cy="4572000"/>
          </a:xfrm>
          <a:prstGeom prst="ellipse">
            <a:avLst/>
          </a:prstGeom>
          <a:solidFill>
            <a:srgbClr val="141A45"/>
          </a:solidFill>
          <a:ln/>
        </p:spPr>
      </p:sp>
      <p:sp>
        <p:nvSpPr>
          <p:cNvPr id="4" name="Text 1"/>
          <p:cNvSpPr/>
          <p:nvPr/>
        </p:nvSpPr>
        <p:spPr>
          <a:xfrm>
            <a:off x="822960" y="228600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2"/>
          <p:cNvSpPr/>
          <p:nvPr/>
        </p:nvSpPr>
        <p:spPr>
          <a:xfrm>
            <a:off x="822960" y="3246120"/>
            <a:ext cx="7315200" cy="457200"/>
          </a:xfrm>
          <a:prstGeom prst="rect">
            <a:avLst/>
          </a:prstGeom>
          <a:noFill/>
          <a:ln/>
        </p:spPr>
        <p:txBody>
          <a:bodyPr wrap="square" lIns="0" tIns="0" rIns="0" bIns="0" rtlCol="0" anchor="ctr"/>
          <a:lstStyle/>
          <a:p>
            <a:pPr indent="0" marL="0">
              <a:buNone/>
            </a:pPr>
            <a:r>
              <a:rPr lang="en-US" sz="1800" i="1" dirty="0">
                <a:solidFill>
                  <a:srgbClr val="5FC7C2"/>
                </a:solidFill>
                <a:latin typeface="Calibri" pitchFamily="34" charset="0"/>
                <a:ea typeface="Calibri" pitchFamily="34" charset="-122"/>
                <a:cs typeface="Calibri" pitchFamily="34" charset="-120"/>
              </a:rPr>
              <a:t>Questions &amp; Discussion</a:t>
            </a:r>
            <a:endParaRPr lang="en-US" sz="1800" dirty="0"/>
          </a:p>
        </p:txBody>
      </p:sp>
      <p:sp>
        <p:nvSpPr>
          <p:cNvPr id="6" name="Shape 3"/>
          <p:cNvSpPr/>
          <p:nvPr/>
        </p:nvSpPr>
        <p:spPr>
          <a:xfrm>
            <a:off x="822960" y="3977640"/>
            <a:ext cx="2011680" cy="0"/>
          </a:xfrm>
          <a:prstGeom prst="line">
            <a:avLst/>
          </a:prstGeom>
          <a:noFill/>
          <a:ln w="31750">
            <a:solidFill>
              <a:srgbClr val="0E8C8C"/>
            </a:solidFill>
            <a:prstDash val="solid"/>
          </a:ln>
        </p:spPr>
      </p:sp>
      <p:sp>
        <p:nvSpPr>
          <p:cNvPr id="7" name="Text 4"/>
          <p:cNvSpPr/>
          <p:nvPr/>
        </p:nvSpPr>
        <p:spPr>
          <a:xfrm>
            <a:off x="822960" y="4206240"/>
            <a:ext cx="7315200" cy="1370000"/>
          </a:xfrm>
          <a:prstGeom prst="rect">
            <a:avLst/>
          </a:prstGeom>
          <a:noFill/>
          <a:ln/>
        </p:spPr>
        <p:txBody>
          <a:bodyPr wrap="square" lIns="0" tIns="0" rIns="0" bIns="0" rtlCol="0" anchor="ctr"/>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Anandumon Prasad Thuruthel</a:t>
            </a:r>
            <a:endParaRPr lang="en-US" sz="1500" dirty="0"/>
          </a:p>
          <a:p>
            <a:pPr indent="0" marL="0">
              <a:lnSpc>
                <a:spcPct val="130000"/>
              </a:lnSpc>
              <a:buNone/>
            </a:pPr>
            <a:r>
              <a:rPr lang="en-US" sz="1200" dirty="0">
                <a:solidFill>
                  <a:srgbClr val="EAF1FB"/>
                </a:solidFill>
                <a:latin typeface="Calibri" pitchFamily="34" charset="0"/>
                <a:ea typeface="Calibri" pitchFamily="34" charset="-122"/>
                <a:cs typeface="Calibri" pitchFamily="34" charset="-120"/>
              </a:rPr>
              <a:t>Enrollment No: O24MCA110149</a:t>
            </a:r>
            <a:endParaRPr lang="en-US" sz="1500" dirty="0"/>
          </a:p>
          <a:p>
            <a:pPr indent="0" marL="0">
              <a:lnSpc>
                <a:spcPct val="130000"/>
              </a:lnSpc>
              <a:buNone/>
            </a:pPr>
            <a:r>
              <a:rPr lang="en-US" sz="1200" dirty="0">
                <a:solidFill>
                  <a:srgbClr val="EAF1FB"/>
                </a:solidFill>
                <a:latin typeface="Calibri" pitchFamily="34" charset="0"/>
                <a:ea typeface="Calibri" pitchFamily="34" charset="-122"/>
                <a:cs typeface="Calibri" pitchFamily="34" charset="-120"/>
              </a:rPr>
              <a:t>Mentor: Ms. Vasanthi Chandran  |  Qollabb / Plag Pro, Noida</a:t>
            </a:r>
            <a:endParaRPr lang="en-US" sz="1500" dirty="0"/>
          </a:p>
          <a:p>
            <a:pPr indent="0" marL="0">
              <a:lnSpc>
                <a:spcPct val="130000"/>
              </a:lnSpc>
              <a:buNone/>
            </a:pPr>
            <a:r>
              <a:rPr lang="en-US" sz="1200" dirty="0">
                <a:solidFill>
                  <a:srgbClr val="5FC7C2"/>
                </a:solidFill>
                <a:latin typeface="Calibri" pitchFamily="34" charset="0"/>
                <a:ea typeface="Calibri" pitchFamily="34" charset="-122"/>
                <a:cs typeface="Calibri" pitchFamily="34" charset="-120"/>
              </a:rPr>
              <a:t>Centre for Distance &amp; Online Education, Chandigarh University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Cloud Computing in Business Operation</dc:title>
  <dc:subject>PptxGenJS Presentation</dc:subject>
  <dc:creator>Anandumon Prasad Thuruthel</dc:creator>
  <cp:lastModifiedBy>Anandumon Prasad Thuruthel</cp:lastModifiedBy>
  <cp:revision>1</cp:revision>
  <dcterms:created xsi:type="dcterms:W3CDTF">2026-06-23T22:20:05Z</dcterms:created>
  <dcterms:modified xsi:type="dcterms:W3CDTF">2026-06-23T22:20:05Z</dcterms:modified>
</cp:coreProperties>
</file>